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6" r:id="rId6"/>
    <p:sldId id="260" r:id="rId7"/>
    <p:sldId id="261" r:id="rId8"/>
    <p:sldId id="262" r:id="rId9"/>
    <p:sldId id="263" r:id="rId10"/>
    <p:sldId id="264" r:id="rId11"/>
    <p:sldId id="267" r:id="rId12"/>
    <p:sldId id="268" r:id="rId13"/>
    <p:sldId id="265" r:id="rId1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B36ABE-EE17-204E-9AE7-5C2EF431F70F}" v="20" dt="2025-02-04T14:38:48.023"/>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28"/>
    <p:restoredTop sz="94694"/>
  </p:normalViewPr>
  <p:slideViewPr>
    <p:cSldViewPr snapToGrid="0">
      <p:cViewPr>
        <p:scale>
          <a:sx n="100" d="100"/>
          <a:sy n="100" d="100"/>
        </p:scale>
        <p:origin x="144"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lak Prestvik Vandvik" userId="9e1d64d4-0814-45bf-8da3-d6e0012ab831" providerId="ADAL" clId="{C4B36ABE-EE17-204E-9AE7-5C2EF431F70F}"/>
    <pc:docChg chg="undo custSel addSld modSld">
      <pc:chgData name="Aslak Prestvik Vandvik" userId="9e1d64d4-0814-45bf-8da3-d6e0012ab831" providerId="ADAL" clId="{C4B36ABE-EE17-204E-9AE7-5C2EF431F70F}" dt="2025-02-04T14:38:48.023" v="604" actId="571"/>
      <pc:docMkLst>
        <pc:docMk/>
      </pc:docMkLst>
      <pc:sldChg chg="addSp delSp modSp mod">
        <pc:chgData name="Aslak Prestvik Vandvik" userId="9e1d64d4-0814-45bf-8da3-d6e0012ab831" providerId="ADAL" clId="{C4B36ABE-EE17-204E-9AE7-5C2EF431F70F}" dt="2025-01-22T10:45:57.499" v="10" actId="14100"/>
        <pc:sldMkLst>
          <pc:docMk/>
          <pc:sldMk cId="0" sldId="257"/>
        </pc:sldMkLst>
        <pc:picChg chg="add mod">
          <ac:chgData name="Aslak Prestvik Vandvik" userId="9e1d64d4-0814-45bf-8da3-d6e0012ab831" providerId="ADAL" clId="{C4B36ABE-EE17-204E-9AE7-5C2EF431F70F}" dt="2025-01-22T10:45:57.499" v="10" actId="14100"/>
          <ac:picMkLst>
            <pc:docMk/>
            <pc:sldMk cId="0" sldId="257"/>
            <ac:picMk id="3" creationId="{F3AD3532-ED79-6341-36AA-C9B527537E7A}"/>
          </ac:picMkLst>
        </pc:picChg>
      </pc:sldChg>
      <pc:sldChg chg="addSp delSp modSp mod">
        <pc:chgData name="Aslak Prestvik Vandvik" userId="9e1d64d4-0814-45bf-8da3-d6e0012ab831" providerId="ADAL" clId="{C4B36ABE-EE17-204E-9AE7-5C2EF431F70F}" dt="2025-01-23T09:51:49.367" v="441" actId="1076"/>
        <pc:sldMkLst>
          <pc:docMk/>
          <pc:sldMk cId="0" sldId="258"/>
        </pc:sldMkLst>
        <pc:spChg chg="add mod">
          <ac:chgData name="Aslak Prestvik Vandvik" userId="9e1d64d4-0814-45bf-8da3-d6e0012ab831" providerId="ADAL" clId="{C4B36ABE-EE17-204E-9AE7-5C2EF431F70F}" dt="2025-01-22T13:27:26.565" v="94" actId="1076"/>
          <ac:spMkLst>
            <pc:docMk/>
            <pc:sldMk cId="0" sldId="258"/>
            <ac:spMk id="11" creationId="{1FA3C67B-A2C7-5C6E-410E-F0FE09DE87CE}"/>
          </ac:spMkLst>
        </pc:spChg>
        <pc:picChg chg="add mod">
          <ac:chgData name="Aslak Prestvik Vandvik" userId="9e1d64d4-0814-45bf-8da3-d6e0012ab831" providerId="ADAL" clId="{C4B36ABE-EE17-204E-9AE7-5C2EF431F70F}" dt="2025-01-23T09:51:49.367" v="441" actId="1076"/>
          <ac:picMkLst>
            <pc:docMk/>
            <pc:sldMk cId="0" sldId="258"/>
            <ac:picMk id="5" creationId="{3557E2FF-8049-A488-9248-46F4D633D455}"/>
          </ac:picMkLst>
        </pc:picChg>
        <pc:picChg chg="add mod">
          <ac:chgData name="Aslak Prestvik Vandvik" userId="9e1d64d4-0814-45bf-8da3-d6e0012ab831" providerId="ADAL" clId="{C4B36ABE-EE17-204E-9AE7-5C2EF431F70F}" dt="2025-01-22T13:19:35.105" v="38" actId="1076"/>
          <ac:picMkLst>
            <pc:docMk/>
            <pc:sldMk cId="0" sldId="258"/>
            <ac:picMk id="7" creationId="{8387287A-FE7D-0798-79B6-ED31DFE09369}"/>
          </ac:picMkLst>
        </pc:picChg>
        <pc:picChg chg="add mod">
          <ac:chgData name="Aslak Prestvik Vandvik" userId="9e1d64d4-0814-45bf-8da3-d6e0012ab831" providerId="ADAL" clId="{C4B36ABE-EE17-204E-9AE7-5C2EF431F70F}" dt="2025-01-22T13:19:37.956" v="39" actId="1076"/>
          <ac:picMkLst>
            <pc:docMk/>
            <pc:sldMk cId="0" sldId="258"/>
            <ac:picMk id="9" creationId="{2693B5E7-1E61-DE12-936A-D2C4868E81EE}"/>
          </ac:picMkLst>
        </pc:picChg>
      </pc:sldChg>
      <pc:sldChg chg="modSp mod">
        <pc:chgData name="Aslak Prestvik Vandvik" userId="9e1d64d4-0814-45bf-8da3-d6e0012ab831" providerId="ADAL" clId="{C4B36ABE-EE17-204E-9AE7-5C2EF431F70F}" dt="2025-01-22T14:30:58.063" v="424" actId="20577"/>
        <pc:sldMkLst>
          <pc:docMk/>
          <pc:sldMk cId="0" sldId="260"/>
        </pc:sldMkLst>
        <pc:spChg chg="mod">
          <ac:chgData name="Aslak Prestvik Vandvik" userId="9e1d64d4-0814-45bf-8da3-d6e0012ab831" providerId="ADAL" clId="{C4B36ABE-EE17-204E-9AE7-5C2EF431F70F}" dt="2025-01-22T14:30:58.063" v="424" actId="20577"/>
          <ac:spMkLst>
            <pc:docMk/>
            <pc:sldMk cId="0" sldId="260"/>
            <ac:spMk id="127" creationId="{00000000-0000-0000-0000-000000000000}"/>
          </ac:spMkLst>
        </pc:spChg>
      </pc:sldChg>
      <pc:sldChg chg="modSp mod">
        <pc:chgData name="Aslak Prestvik Vandvik" userId="9e1d64d4-0814-45bf-8da3-d6e0012ab831" providerId="ADAL" clId="{C4B36ABE-EE17-204E-9AE7-5C2EF431F70F}" dt="2025-02-04T14:36:42.889" v="603" actId="1076"/>
        <pc:sldMkLst>
          <pc:docMk/>
          <pc:sldMk cId="0" sldId="261"/>
        </pc:sldMkLst>
        <pc:spChg chg="mod">
          <ac:chgData name="Aslak Prestvik Vandvik" userId="9e1d64d4-0814-45bf-8da3-d6e0012ab831" providerId="ADAL" clId="{C4B36ABE-EE17-204E-9AE7-5C2EF431F70F}" dt="2025-02-04T14:36:42.889" v="603" actId="1076"/>
          <ac:spMkLst>
            <pc:docMk/>
            <pc:sldMk cId="0" sldId="261"/>
            <ac:spMk id="130" creationId="{00000000-0000-0000-0000-000000000000}"/>
          </ac:spMkLst>
        </pc:spChg>
        <pc:spChg chg="mod">
          <ac:chgData name="Aslak Prestvik Vandvik" userId="9e1d64d4-0814-45bf-8da3-d6e0012ab831" providerId="ADAL" clId="{C4B36ABE-EE17-204E-9AE7-5C2EF431F70F}" dt="2025-01-22T14:46:52.931" v="437"/>
          <ac:spMkLst>
            <pc:docMk/>
            <pc:sldMk cId="0" sldId="261"/>
            <ac:spMk id="134" creationId="{00000000-0000-0000-0000-000000000000}"/>
          </ac:spMkLst>
        </pc:spChg>
      </pc:sldChg>
      <pc:sldChg chg="modSp mod">
        <pc:chgData name="Aslak Prestvik Vandvik" userId="9e1d64d4-0814-45bf-8da3-d6e0012ab831" providerId="ADAL" clId="{C4B36ABE-EE17-204E-9AE7-5C2EF431F70F}" dt="2025-01-22T14:49:26.044" v="439"/>
        <pc:sldMkLst>
          <pc:docMk/>
          <pc:sldMk cId="0" sldId="262"/>
        </pc:sldMkLst>
        <pc:spChg chg="mod">
          <ac:chgData name="Aslak Prestvik Vandvik" userId="9e1d64d4-0814-45bf-8da3-d6e0012ab831" providerId="ADAL" clId="{C4B36ABE-EE17-204E-9AE7-5C2EF431F70F}" dt="2025-01-22T14:49:26.044" v="439"/>
          <ac:spMkLst>
            <pc:docMk/>
            <pc:sldMk cId="0" sldId="262"/>
            <ac:spMk id="144" creationId="{00000000-0000-0000-0000-000000000000}"/>
          </ac:spMkLst>
        </pc:spChg>
      </pc:sldChg>
      <pc:sldChg chg="modSp mod">
        <pc:chgData name="Aslak Prestvik Vandvik" userId="9e1d64d4-0814-45bf-8da3-d6e0012ab831" providerId="ADAL" clId="{C4B36ABE-EE17-204E-9AE7-5C2EF431F70F}" dt="2025-01-23T11:23:08.845" v="483" actId="20577"/>
        <pc:sldMkLst>
          <pc:docMk/>
          <pc:sldMk cId="0" sldId="263"/>
        </pc:sldMkLst>
        <pc:spChg chg="mod">
          <ac:chgData name="Aslak Prestvik Vandvik" userId="9e1d64d4-0814-45bf-8da3-d6e0012ab831" providerId="ADAL" clId="{C4B36ABE-EE17-204E-9AE7-5C2EF431F70F}" dt="2025-01-23T11:23:08.845" v="483" actId="20577"/>
          <ac:spMkLst>
            <pc:docMk/>
            <pc:sldMk cId="0" sldId="263"/>
            <ac:spMk id="156" creationId="{00000000-0000-0000-0000-000000000000}"/>
          </ac:spMkLst>
        </pc:spChg>
      </pc:sldChg>
      <pc:sldChg chg="addSp delSp modSp mod">
        <pc:chgData name="Aslak Prestvik Vandvik" userId="9e1d64d4-0814-45bf-8da3-d6e0012ab831" providerId="ADAL" clId="{C4B36ABE-EE17-204E-9AE7-5C2EF431F70F}" dt="2025-02-04T14:20:32.451" v="492" actId="478"/>
        <pc:sldMkLst>
          <pc:docMk/>
          <pc:sldMk cId="0" sldId="264"/>
        </pc:sldMkLst>
        <pc:spChg chg="mod">
          <ac:chgData name="Aslak Prestvik Vandvik" userId="9e1d64d4-0814-45bf-8da3-d6e0012ab831" providerId="ADAL" clId="{C4B36ABE-EE17-204E-9AE7-5C2EF431F70F}" dt="2025-01-23T11:11:14.309" v="466" actId="5793"/>
          <ac:spMkLst>
            <pc:docMk/>
            <pc:sldMk cId="0" sldId="264"/>
            <ac:spMk id="165" creationId="{00000000-0000-0000-0000-000000000000}"/>
          </ac:spMkLst>
        </pc:spChg>
        <pc:picChg chg="add del mod">
          <ac:chgData name="Aslak Prestvik Vandvik" userId="9e1d64d4-0814-45bf-8da3-d6e0012ab831" providerId="ADAL" clId="{C4B36ABE-EE17-204E-9AE7-5C2EF431F70F}" dt="2025-02-04T14:20:32.451" v="492" actId="478"/>
          <ac:picMkLst>
            <pc:docMk/>
            <pc:sldMk cId="0" sldId="264"/>
            <ac:picMk id="3" creationId="{3BD1466E-948B-6B8E-600D-9188910C7888}"/>
          </ac:picMkLst>
        </pc:picChg>
      </pc:sldChg>
      <pc:sldChg chg="addSp delSp modSp new mod">
        <pc:chgData name="Aslak Prestvik Vandvik" userId="9e1d64d4-0814-45bf-8da3-d6e0012ab831" providerId="ADAL" clId="{C4B36ABE-EE17-204E-9AE7-5C2EF431F70F}" dt="2025-01-23T10:48:24.935" v="465" actId="1076"/>
        <pc:sldMkLst>
          <pc:docMk/>
          <pc:sldMk cId="1216660139" sldId="266"/>
        </pc:sldMkLst>
        <pc:spChg chg="mod">
          <ac:chgData name="Aslak Prestvik Vandvik" userId="9e1d64d4-0814-45bf-8da3-d6e0012ab831" providerId="ADAL" clId="{C4B36ABE-EE17-204E-9AE7-5C2EF431F70F}" dt="2025-01-22T13:48:45.323" v="236" actId="20577"/>
          <ac:spMkLst>
            <pc:docMk/>
            <pc:sldMk cId="1216660139" sldId="266"/>
            <ac:spMk id="2" creationId="{162A9D75-9766-A30E-3CE9-E9F4DA20B20A}"/>
          </ac:spMkLst>
        </pc:spChg>
        <pc:spChg chg="mod">
          <ac:chgData name="Aslak Prestvik Vandvik" userId="9e1d64d4-0814-45bf-8da3-d6e0012ab831" providerId="ADAL" clId="{C4B36ABE-EE17-204E-9AE7-5C2EF431F70F}" dt="2025-01-23T10:48:17.192" v="463" actId="20577"/>
          <ac:spMkLst>
            <pc:docMk/>
            <pc:sldMk cId="1216660139" sldId="266"/>
            <ac:spMk id="3" creationId="{D94266DE-D455-D8F8-609F-F2A4BCF5096A}"/>
          </ac:spMkLst>
        </pc:spChg>
        <pc:picChg chg="add mod modCrop">
          <ac:chgData name="Aslak Prestvik Vandvik" userId="9e1d64d4-0814-45bf-8da3-d6e0012ab831" providerId="ADAL" clId="{C4B36ABE-EE17-204E-9AE7-5C2EF431F70F}" dt="2025-01-22T14:08:52.588" v="395" actId="14100"/>
          <ac:picMkLst>
            <pc:docMk/>
            <pc:sldMk cId="1216660139" sldId="266"/>
            <ac:picMk id="5" creationId="{BF7CF764-7073-75E5-1FA3-3C7764174E56}"/>
          </ac:picMkLst>
        </pc:picChg>
        <pc:picChg chg="add mod">
          <ac:chgData name="Aslak Prestvik Vandvik" userId="9e1d64d4-0814-45bf-8da3-d6e0012ab831" providerId="ADAL" clId="{C4B36ABE-EE17-204E-9AE7-5C2EF431F70F}" dt="2025-01-22T14:05:32.337" v="389" actId="1076"/>
          <ac:picMkLst>
            <pc:docMk/>
            <pc:sldMk cId="1216660139" sldId="266"/>
            <ac:picMk id="9" creationId="{DBE637D8-9184-D966-5E17-73845DAF7972}"/>
          </ac:picMkLst>
        </pc:picChg>
        <pc:picChg chg="add mod">
          <ac:chgData name="Aslak Prestvik Vandvik" userId="9e1d64d4-0814-45bf-8da3-d6e0012ab831" providerId="ADAL" clId="{C4B36ABE-EE17-204E-9AE7-5C2EF431F70F}" dt="2025-01-23T10:48:24.935" v="465" actId="1076"/>
          <ac:picMkLst>
            <pc:docMk/>
            <pc:sldMk cId="1216660139" sldId="266"/>
            <ac:picMk id="14" creationId="{9515CFCA-CF5F-9B5F-4B99-46B9BFFF7BB7}"/>
          </ac:picMkLst>
        </pc:picChg>
      </pc:sldChg>
      <pc:sldChg chg="addSp delSp modSp new mod">
        <pc:chgData name="Aslak Prestvik Vandvik" userId="9e1d64d4-0814-45bf-8da3-d6e0012ab831" providerId="ADAL" clId="{C4B36ABE-EE17-204E-9AE7-5C2EF431F70F}" dt="2025-02-04T14:23:08.886" v="559" actId="20577"/>
        <pc:sldMkLst>
          <pc:docMk/>
          <pc:sldMk cId="4240827202" sldId="267"/>
        </pc:sldMkLst>
        <pc:spChg chg="mod">
          <ac:chgData name="Aslak Prestvik Vandvik" userId="9e1d64d4-0814-45bf-8da3-d6e0012ab831" providerId="ADAL" clId="{C4B36ABE-EE17-204E-9AE7-5C2EF431F70F}" dt="2025-02-04T14:20:46.783" v="523" actId="404"/>
          <ac:spMkLst>
            <pc:docMk/>
            <pc:sldMk cId="4240827202" sldId="267"/>
            <ac:spMk id="2" creationId="{FEB4C80C-ECAE-B472-2BFB-F539F7BE5214}"/>
          </ac:spMkLst>
        </pc:spChg>
        <pc:spChg chg="mod">
          <ac:chgData name="Aslak Prestvik Vandvik" userId="9e1d64d4-0814-45bf-8da3-d6e0012ab831" providerId="ADAL" clId="{C4B36ABE-EE17-204E-9AE7-5C2EF431F70F}" dt="2025-02-04T14:23:08.886" v="559" actId="20577"/>
          <ac:spMkLst>
            <pc:docMk/>
            <pc:sldMk cId="4240827202" sldId="267"/>
            <ac:spMk id="3" creationId="{8C980200-2A38-1116-77CD-80E133B9D0B8}"/>
          </ac:spMkLst>
        </pc:spChg>
        <pc:picChg chg="add mod">
          <ac:chgData name="Aslak Prestvik Vandvik" userId="9e1d64d4-0814-45bf-8da3-d6e0012ab831" providerId="ADAL" clId="{C4B36ABE-EE17-204E-9AE7-5C2EF431F70F}" dt="2025-02-04T14:23:01.630" v="537" actId="1076"/>
          <ac:picMkLst>
            <pc:docMk/>
            <pc:sldMk cId="4240827202" sldId="267"/>
            <ac:picMk id="5" creationId="{467AA465-4E27-88C6-4A54-784855A34E32}"/>
          </ac:picMkLst>
        </pc:picChg>
        <pc:picChg chg="add mod">
          <ac:chgData name="Aslak Prestvik Vandvik" userId="9e1d64d4-0814-45bf-8da3-d6e0012ab831" providerId="ADAL" clId="{C4B36ABE-EE17-204E-9AE7-5C2EF431F70F}" dt="2025-02-04T14:23:00.604" v="536" actId="1076"/>
          <ac:picMkLst>
            <pc:docMk/>
            <pc:sldMk cId="4240827202" sldId="267"/>
            <ac:picMk id="7" creationId="{95F2290B-79D2-620C-E8D2-2D4CA7CD33A0}"/>
          </ac:picMkLst>
        </pc:picChg>
        <pc:picChg chg="add del mod">
          <ac:chgData name="Aslak Prestvik Vandvik" userId="9e1d64d4-0814-45bf-8da3-d6e0012ab831" providerId="ADAL" clId="{C4B36ABE-EE17-204E-9AE7-5C2EF431F70F}" dt="2025-02-04T14:22:58.474" v="535" actId="478"/>
          <ac:picMkLst>
            <pc:docMk/>
            <pc:sldMk cId="4240827202" sldId="267"/>
            <ac:picMk id="9" creationId="{E08C732F-8163-B968-1B86-D6C4C78629EC}"/>
          </ac:picMkLst>
        </pc:picChg>
      </pc:sldChg>
      <pc:sldChg chg="addSp delSp modSp new mod">
        <pc:chgData name="Aslak Prestvik Vandvik" userId="9e1d64d4-0814-45bf-8da3-d6e0012ab831" providerId="ADAL" clId="{C4B36ABE-EE17-204E-9AE7-5C2EF431F70F}" dt="2025-02-04T14:38:48.023" v="604" actId="571"/>
        <pc:sldMkLst>
          <pc:docMk/>
          <pc:sldMk cId="2229746540" sldId="268"/>
        </pc:sldMkLst>
        <pc:spChg chg="mod">
          <ac:chgData name="Aslak Prestvik Vandvik" userId="9e1d64d4-0814-45bf-8da3-d6e0012ab831" providerId="ADAL" clId="{C4B36ABE-EE17-204E-9AE7-5C2EF431F70F}" dt="2025-02-04T14:23:24.499" v="582" actId="404"/>
          <ac:spMkLst>
            <pc:docMk/>
            <pc:sldMk cId="2229746540" sldId="268"/>
            <ac:spMk id="2" creationId="{C731C0A1-A32F-4E18-5FFC-B4F9CC9F7059}"/>
          </ac:spMkLst>
        </pc:spChg>
        <pc:spChg chg="del">
          <ac:chgData name="Aslak Prestvik Vandvik" userId="9e1d64d4-0814-45bf-8da3-d6e0012ab831" providerId="ADAL" clId="{C4B36ABE-EE17-204E-9AE7-5C2EF431F70F}" dt="2025-02-04T14:26:24.500" v="601" actId="21"/>
          <ac:spMkLst>
            <pc:docMk/>
            <pc:sldMk cId="2229746540" sldId="268"/>
            <ac:spMk id="3" creationId="{6C585584-1FDC-87AB-7A6A-92B8AE54F5F8}"/>
          </ac:spMkLst>
        </pc:spChg>
        <pc:picChg chg="add mod modCrop">
          <ac:chgData name="Aslak Prestvik Vandvik" userId="9e1d64d4-0814-45bf-8da3-d6e0012ab831" providerId="ADAL" clId="{C4B36ABE-EE17-204E-9AE7-5C2EF431F70F}" dt="2025-02-04T14:25:03.782" v="594" actId="1076"/>
          <ac:picMkLst>
            <pc:docMk/>
            <pc:sldMk cId="2229746540" sldId="268"/>
            <ac:picMk id="5" creationId="{69E31639-620A-ADB9-01DF-E8F776BC5AA7}"/>
          </ac:picMkLst>
        </pc:picChg>
        <pc:picChg chg="add mod">
          <ac:chgData name="Aslak Prestvik Vandvik" userId="9e1d64d4-0814-45bf-8da3-d6e0012ab831" providerId="ADAL" clId="{C4B36ABE-EE17-204E-9AE7-5C2EF431F70F}" dt="2025-02-04T14:26:20.423" v="600" actId="14100"/>
          <ac:picMkLst>
            <pc:docMk/>
            <pc:sldMk cId="2229746540" sldId="268"/>
            <ac:picMk id="7" creationId="{0336AB2E-92D8-C5B9-48EC-3D2FDD29B26A}"/>
          </ac:picMkLst>
        </pc:picChg>
        <pc:picChg chg="add mod">
          <ac:chgData name="Aslak Prestvik Vandvik" userId="9e1d64d4-0814-45bf-8da3-d6e0012ab831" providerId="ADAL" clId="{C4B36ABE-EE17-204E-9AE7-5C2EF431F70F}" dt="2025-02-04T14:38:48.023" v="604" actId="571"/>
          <ac:picMkLst>
            <pc:docMk/>
            <pc:sldMk cId="2229746540" sldId="268"/>
            <ac:picMk id="8" creationId="{89ED67DB-D9EC-99B5-C9B0-DEDD28E5C1E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839787" y="2057400"/>
            <a:ext cx="3932239" cy="3811588"/>
          </a:xfrm>
          <a:prstGeom prst="rect">
            <a:avLst/>
          </a:prstGeom>
        </p:spPr>
        <p:txBody>
          <a:bodyPr/>
          <a:lstStyle/>
          <a:p>
            <a:pPr marL="0" indent="0">
              <a:buSzTx/>
              <a:buFontTx/>
              <a:buNone/>
              <a:defRPr sz="16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www.howtogeek.com/235101/10-ways-to-open-the-command-prompt-in-windows-10/" TargetMode="External"/><Relationship Id="rId2" Type="http://schemas.openxmlformats.org/officeDocument/2006/relationships/hyperlink" Target="http://www.google.com/" TargetMode="External"/><Relationship Id="rId1" Type="http://schemas.openxmlformats.org/officeDocument/2006/relationships/slideLayout" Target="../slideLayouts/slideLayout2.xml"/><Relationship Id="rId4" Type="http://schemas.openxmlformats.org/officeDocument/2006/relationships/hyperlink" Target="https://macpaw.com/how-to/use-terminal-on-mac"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hyperlink" Target="http://www.pythonscraping.com/pages/warandpeace.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www.pythonscraping.com/pages/page3.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mailto://img%5B@src=%22../img/gifts/img1.jpg" TargetMode="External"/><Relationship Id="rId2" Type="http://schemas.openxmlformats.org/officeDocument/2006/relationships/hyperlink" Target="http://www.pythonscraping.com/pages/page3.html"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38"/>
          <p:cNvSpPr/>
          <p:nvPr/>
        </p:nvSpPr>
        <p:spPr>
          <a:xfrm>
            <a:off x="0" y="0"/>
            <a:ext cx="12192000" cy="6858000"/>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pic>
        <p:nvPicPr>
          <p:cNvPr id="95" name="Picture 34" descr="Picture 34"/>
          <p:cNvPicPr>
            <a:picLocks noChangeAspect="1"/>
          </p:cNvPicPr>
          <p:nvPr/>
        </p:nvPicPr>
        <p:blipFill>
          <a:blip r:embed="rId2"/>
          <a:srcRect r="23418" b="9098"/>
          <a:stretch>
            <a:fillRect/>
          </a:stretch>
        </p:blipFill>
        <p:spPr>
          <a:xfrm>
            <a:off x="3523488" y="9"/>
            <a:ext cx="8668512" cy="6857991"/>
          </a:xfrm>
          <a:prstGeom prst="rect">
            <a:avLst/>
          </a:prstGeom>
          <a:ln w="12700">
            <a:miter lim="400000"/>
          </a:ln>
        </p:spPr>
      </p:pic>
      <p:sp>
        <p:nvSpPr>
          <p:cNvPr id="96" name="Rectangle 40"/>
          <p:cNvSpPr/>
          <p:nvPr/>
        </p:nvSpPr>
        <p:spPr>
          <a:xfrm>
            <a:off x="-1" y="0"/>
            <a:ext cx="9756603" cy="6858000"/>
          </a:xfrm>
          <a:prstGeom prst="rect">
            <a:avLst/>
          </a:prstGeom>
          <a:gradFill>
            <a:gsLst>
              <a:gs pos="0">
                <a:srgbClr val="FFFFFF">
                  <a:alpha val="0"/>
                </a:srgbClr>
              </a:gs>
              <a:gs pos="19000">
                <a:srgbClr val="FFFFFF">
                  <a:alpha val="38000"/>
                </a:srgbClr>
              </a:gs>
              <a:gs pos="35000">
                <a:srgbClr val="FFFFFF">
                  <a:alpha val="79000"/>
                </a:srgbClr>
              </a:gs>
              <a:gs pos="58000">
                <a:srgbClr val="FFFFFF"/>
              </a:gs>
              <a:gs pos="100000">
                <a:srgbClr val="FFFFFF"/>
              </a:gs>
            </a:gsLst>
            <a:lin ang="10800000"/>
          </a:gradFill>
          <a:ln w="12700">
            <a:miter lim="400000"/>
          </a:ln>
        </p:spPr>
        <p:txBody>
          <a:bodyPr lIns="45719" rIns="45719" anchor="ctr"/>
          <a:lstStyle/>
          <a:p>
            <a:pPr algn="ctr">
              <a:defRPr>
                <a:solidFill>
                  <a:srgbClr val="FFFFFF"/>
                </a:solidFill>
              </a:defRPr>
            </a:pPr>
            <a:endParaRPr/>
          </a:p>
        </p:txBody>
      </p:sp>
      <p:sp>
        <p:nvSpPr>
          <p:cNvPr id="97" name="Title 1"/>
          <p:cNvSpPr txBox="1">
            <a:spLocks noGrp="1"/>
          </p:cNvSpPr>
          <p:nvPr>
            <p:ph type="title"/>
          </p:nvPr>
        </p:nvSpPr>
        <p:spPr>
          <a:xfrm>
            <a:off x="477980" y="1122362"/>
            <a:ext cx="8930918" cy="3204136"/>
          </a:xfrm>
          <a:prstGeom prst="rect">
            <a:avLst/>
          </a:prstGeom>
        </p:spPr>
        <p:txBody>
          <a:bodyPr lIns="45719" tIns="45720" rIns="45719" bIns="45720" anchor="b">
            <a:normAutofit/>
          </a:bodyPr>
          <a:lstStyle/>
          <a:p>
            <a:pPr>
              <a:defRPr sz="4800"/>
            </a:pPr>
            <a:r>
              <a:rPr dirty="0"/>
              <a:t>Obligatory Assignment 01</a:t>
            </a:r>
          </a:p>
        </p:txBody>
      </p:sp>
      <p:sp>
        <p:nvSpPr>
          <p:cNvPr id="98" name="Content Placeholder 2"/>
          <p:cNvSpPr txBox="1">
            <a:spLocks noGrp="1"/>
          </p:cNvSpPr>
          <p:nvPr>
            <p:ph type="body" sz="quarter" idx="1"/>
          </p:nvPr>
        </p:nvSpPr>
        <p:spPr>
          <a:xfrm>
            <a:off x="477979" y="4872921"/>
            <a:ext cx="4023361" cy="1208142"/>
          </a:xfrm>
          <a:prstGeom prst="rect">
            <a:avLst/>
          </a:prstGeom>
        </p:spPr>
        <p:txBody>
          <a:bodyPr lIns="45719" tIns="45720" rIns="45719" bIns="45720" anchor="t">
            <a:normAutofit/>
          </a:bodyPr>
          <a:lstStyle>
            <a:lvl1pPr marL="0" indent="0">
              <a:buSzTx/>
              <a:buNone/>
              <a:defRPr sz="2000"/>
            </a:lvl1pPr>
          </a:lstStyle>
          <a:p>
            <a:r>
              <a:rPr lang="en-GB" dirty="0"/>
              <a:t>Feb 10, 2024</a:t>
            </a:r>
            <a:endParaRPr lang="en-US" dirty="0"/>
          </a:p>
        </p:txBody>
      </p:sp>
      <p:sp>
        <p:nvSpPr>
          <p:cNvPr id="99" name="Rectangle 42"/>
          <p:cNvSpPr/>
          <p:nvPr/>
        </p:nvSpPr>
        <p:spPr>
          <a:xfrm rot="5400000">
            <a:off x="759920" y="346790"/>
            <a:ext cx="146306" cy="704089"/>
          </a:xfrm>
          <a:prstGeom prst="rect">
            <a:avLst/>
          </a:prstGeom>
          <a:solidFill>
            <a:schemeClr val="accent2"/>
          </a:solidFill>
          <a:ln w="12700">
            <a:miter lim="400000"/>
          </a:ln>
        </p:spPr>
        <p:txBody>
          <a:bodyPr lIns="45719" rIns="45719" anchor="ctr"/>
          <a:lstStyle/>
          <a:p>
            <a:pPr algn="ctr">
              <a:defRPr>
                <a:solidFill>
                  <a:srgbClr val="FFFFFF"/>
                </a:solidFill>
              </a:defRPr>
            </a:pPr>
            <a:endParaRPr/>
          </a:p>
        </p:txBody>
      </p:sp>
      <p:sp>
        <p:nvSpPr>
          <p:cNvPr id="100" name="Rectangle 44"/>
          <p:cNvSpPr/>
          <p:nvPr/>
        </p:nvSpPr>
        <p:spPr>
          <a:xfrm>
            <a:off x="481028" y="4546920"/>
            <a:ext cx="3977642" cy="18289"/>
          </a:xfrm>
          <a:prstGeom prst="rect">
            <a:avLst/>
          </a:prstGeom>
          <a:solidFill>
            <a:srgbClr val="D5D5D5"/>
          </a:solidFill>
          <a:ln w="12700">
            <a:miter lim="400000"/>
          </a:ln>
        </p:spPr>
        <p:txBody>
          <a:bodyPr lIns="45719" rIns="45719" anchor="ctr"/>
          <a:lstStyle/>
          <a:p>
            <a:pPr algn="ctr">
              <a:defRPr>
                <a:solidFill>
                  <a:srgbClr val="FFFFFF"/>
                </a:solidFill>
              </a:defRPr>
            </a:pPr>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Rectangle 33"/>
          <p:cNvSpPr/>
          <p:nvPr/>
        </p:nvSpPr>
        <p:spPr>
          <a:xfrm>
            <a:off x="327545" y="321732"/>
            <a:ext cx="7058309" cy="1964266"/>
          </a:xfrm>
          <a:prstGeom prst="rect">
            <a:avLst/>
          </a:prstGeom>
          <a:solidFill>
            <a:srgbClr val="566C82">
              <a:alpha val="95000"/>
            </a:srgbClr>
          </a:solidFill>
          <a:ln w="12700">
            <a:miter lim="400000"/>
          </a:ln>
        </p:spPr>
        <p:txBody>
          <a:bodyPr lIns="45719" rIns="45719" anchor="ctr"/>
          <a:lstStyle/>
          <a:p>
            <a:pPr algn="ctr">
              <a:defRPr>
                <a:solidFill>
                  <a:srgbClr val="FFFFFF"/>
                </a:solidFill>
              </a:defRPr>
            </a:pPr>
            <a:endParaRPr/>
          </a:p>
        </p:txBody>
      </p:sp>
      <p:sp>
        <p:nvSpPr>
          <p:cNvPr id="103" name="Title 1"/>
          <p:cNvSpPr txBox="1">
            <a:spLocks noGrp="1"/>
          </p:cNvSpPr>
          <p:nvPr>
            <p:ph type="title"/>
          </p:nvPr>
        </p:nvSpPr>
        <p:spPr>
          <a:xfrm>
            <a:off x="524255" y="491259"/>
            <a:ext cx="6594190" cy="1625211"/>
          </a:xfrm>
          <a:prstGeom prst="rect">
            <a:avLst/>
          </a:prstGeom>
        </p:spPr>
        <p:txBody>
          <a:bodyPr/>
          <a:lstStyle>
            <a:lvl1pPr>
              <a:defRPr>
                <a:solidFill>
                  <a:srgbClr val="FFFFFF"/>
                </a:solidFill>
              </a:defRPr>
            </a:lvl1pPr>
          </a:lstStyle>
          <a:p>
            <a:r>
              <a:t>Scalable Vector Graphics (SVG)</a:t>
            </a:r>
          </a:p>
        </p:txBody>
      </p:sp>
      <p:sp>
        <p:nvSpPr>
          <p:cNvPr id="104" name="Rectangle 35"/>
          <p:cNvSpPr/>
          <p:nvPr/>
        </p:nvSpPr>
        <p:spPr>
          <a:xfrm>
            <a:off x="7556975" y="321731"/>
            <a:ext cx="4313294" cy="6214536"/>
          </a:xfrm>
          <a:prstGeom prst="rect">
            <a:avLst/>
          </a:prstGeom>
          <a:solidFill>
            <a:srgbClr val="595959"/>
          </a:solidFill>
          <a:ln w="12700">
            <a:miter lim="400000"/>
          </a:ln>
        </p:spPr>
        <p:txBody>
          <a:bodyPr lIns="45719" rIns="45719" anchor="ctr"/>
          <a:lstStyle/>
          <a:p>
            <a:pPr algn="ctr">
              <a:defRPr>
                <a:solidFill>
                  <a:srgbClr val="FFFFFF"/>
                </a:solidFill>
              </a:defRPr>
            </a:pPr>
            <a:endParaRPr dirty="0"/>
          </a:p>
        </p:txBody>
      </p:sp>
      <p:sp>
        <p:nvSpPr>
          <p:cNvPr id="105" name="Content Placeholder 2"/>
          <p:cNvSpPr txBox="1">
            <a:spLocks noGrp="1"/>
          </p:cNvSpPr>
          <p:nvPr>
            <p:ph type="body" sz="half" idx="1"/>
          </p:nvPr>
        </p:nvSpPr>
        <p:spPr>
          <a:xfrm>
            <a:off x="7698014" y="917724"/>
            <a:ext cx="4113851" cy="5104155"/>
          </a:xfrm>
          <a:prstGeom prst="rect">
            <a:avLst/>
          </a:prstGeom>
        </p:spPr>
        <p:txBody>
          <a:bodyPr anchor="ctr"/>
          <a:lstStyle/>
          <a:p>
            <a:pPr>
              <a:defRPr sz="2000" b="1">
                <a:solidFill>
                  <a:srgbClr val="FFFFFF"/>
                </a:solidFill>
              </a:defRPr>
            </a:pPr>
            <a:r>
              <a:rPr dirty="0"/>
              <a:t>Using </a:t>
            </a:r>
            <a:r>
              <a:rPr dirty="0" err="1"/>
              <a:t>svg</a:t>
            </a:r>
            <a:r>
              <a:rPr dirty="0"/>
              <a:t> tags draw the Norwegian flag as shown on the left. </a:t>
            </a:r>
          </a:p>
          <a:p>
            <a:pPr>
              <a:defRPr sz="2000" b="1">
                <a:solidFill>
                  <a:srgbClr val="FFFFFF"/>
                </a:solidFill>
              </a:defRPr>
            </a:pPr>
            <a:r>
              <a:rPr dirty="0"/>
              <a:t>You are allowed to use &lt;polygon&gt;, &lt;</a:t>
            </a:r>
            <a:r>
              <a:rPr dirty="0" err="1"/>
              <a:t>rect</a:t>
            </a:r>
            <a:r>
              <a:rPr dirty="0"/>
              <a:t>&gt;, &lt;line&gt;, </a:t>
            </a:r>
            <a:r>
              <a:rPr dirty="0" err="1"/>
              <a:t>etc</a:t>
            </a:r>
            <a:r>
              <a:rPr dirty="0"/>
              <a:t> but &lt;</a:t>
            </a:r>
            <a:r>
              <a:rPr dirty="0" err="1"/>
              <a:t>img</a:t>
            </a:r>
            <a:r>
              <a:rPr dirty="0"/>
              <a:t>&gt; tag is not allowed.</a:t>
            </a:r>
          </a:p>
        </p:txBody>
      </p:sp>
      <p:sp>
        <p:nvSpPr>
          <p:cNvPr id="106" name="TextBox 4"/>
          <p:cNvSpPr txBox="1"/>
          <p:nvPr/>
        </p:nvSpPr>
        <p:spPr>
          <a:xfrm>
            <a:off x="-2" y="6473685"/>
            <a:ext cx="12192001" cy="333089"/>
          </a:xfrm>
          <a:prstGeom prst="rect">
            <a:avLst/>
          </a:prstGeom>
          <a:solidFill>
            <a:schemeClr val="accent2"/>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defRPr>
            </a:lvl1pPr>
          </a:lstStyle>
          <a:p>
            <a:r>
              <a:t>Obligatory Exercise: Task 1</a:t>
            </a:r>
          </a:p>
        </p:txBody>
      </p:sp>
      <p:pic>
        <p:nvPicPr>
          <p:cNvPr id="3" name="Picture 2" descr="A screenshot of a computer&#10;&#10;AI-generated content may be incorrect.">
            <a:extLst>
              <a:ext uri="{FF2B5EF4-FFF2-40B4-BE49-F238E27FC236}">
                <a16:creationId xmlns:a16="http://schemas.microsoft.com/office/drawing/2014/main" id="{F3AD3532-ED79-6341-36AA-C9B527537E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2692936"/>
            <a:ext cx="7556977" cy="3489733"/>
          </a:xfrm>
          <a:prstGeom prst="rect">
            <a:avLst/>
          </a:prstGeom>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Rectangle 12"/>
          <p:cNvSpPr/>
          <p:nvPr/>
        </p:nvSpPr>
        <p:spPr>
          <a:xfrm>
            <a:off x="0" y="7144"/>
            <a:ext cx="12192000" cy="1492734"/>
          </a:xfrm>
          <a:prstGeom prst="rect">
            <a:avLst/>
          </a:prstGeom>
          <a:solidFill>
            <a:schemeClr val="accent1"/>
          </a:solidFill>
          <a:ln w="12700">
            <a:solidFill>
              <a:srgbClr val="32538F"/>
            </a:solidFill>
            <a:miter/>
          </a:ln>
        </p:spPr>
        <p:txBody>
          <a:bodyPr lIns="45719" rIns="45719" anchor="ctr"/>
          <a:lstStyle/>
          <a:p>
            <a:pPr algn="ctr">
              <a:defRPr>
                <a:solidFill>
                  <a:srgbClr val="FFFFFF"/>
                </a:solidFill>
              </a:defRPr>
            </a:pPr>
            <a:endParaRPr/>
          </a:p>
        </p:txBody>
      </p:sp>
      <p:sp>
        <p:nvSpPr>
          <p:cNvPr id="110" name="TextBox 3"/>
          <p:cNvSpPr txBox="1"/>
          <p:nvPr/>
        </p:nvSpPr>
        <p:spPr>
          <a:xfrm>
            <a:off x="1445894" y="449976"/>
            <a:ext cx="2699853" cy="3924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400" b="1">
                <a:solidFill>
                  <a:srgbClr val="FFFFFF"/>
                </a:solidFill>
              </a:defRPr>
            </a:lvl1pPr>
          </a:lstStyle>
          <a:p>
            <a:r>
              <a:t>Title of your website</a:t>
            </a:r>
          </a:p>
        </p:txBody>
      </p:sp>
      <p:sp>
        <p:nvSpPr>
          <p:cNvPr id="111" name="TextBox 4"/>
          <p:cNvSpPr txBox="1"/>
          <p:nvPr/>
        </p:nvSpPr>
        <p:spPr>
          <a:xfrm>
            <a:off x="1445894" y="911640"/>
            <a:ext cx="2170372" cy="280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400">
                <a:solidFill>
                  <a:srgbClr val="FFFFFF"/>
                </a:solidFill>
              </a:defRPr>
            </a:pPr>
            <a:r>
              <a:t>Description of the website….</a:t>
            </a:r>
          </a:p>
        </p:txBody>
      </p:sp>
      <p:sp>
        <p:nvSpPr>
          <p:cNvPr id="112" name="Rectangle 5"/>
          <p:cNvSpPr/>
          <p:nvPr/>
        </p:nvSpPr>
        <p:spPr>
          <a:xfrm>
            <a:off x="664562" y="278647"/>
            <a:ext cx="735614" cy="1025613"/>
          </a:xfrm>
          <a:prstGeom prst="rect">
            <a:avLst/>
          </a:prstGeom>
          <a:ln w="12700">
            <a:solidFill>
              <a:srgbClr val="FFFFFF"/>
            </a:solidFill>
            <a:prstDash val="sysDot"/>
            <a:miter/>
          </a:ln>
        </p:spPr>
        <p:txBody>
          <a:bodyPr lIns="45719" rIns="45719" anchor="ctr"/>
          <a:lstStyle/>
          <a:p>
            <a:pPr algn="ctr">
              <a:defRPr>
                <a:solidFill>
                  <a:srgbClr val="FFFFFF"/>
                </a:solidFill>
              </a:defRPr>
            </a:pPr>
            <a:endParaRPr/>
          </a:p>
        </p:txBody>
      </p:sp>
      <p:pic>
        <p:nvPicPr>
          <p:cNvPr id="113" name="Graphic 7" descr="Graphic 7"/>
          <p:cNvPicPr>
            <a:picLocks noChangeAspect="1"/>
          </p:cNvPicPr>
          <p:nvPr/>
        </p:nvPicPr>
        <p:blipFill>
          <a:blip r:embed="rId2"/>
          <a:stretch>
            <a:fillRect/>
          </a:stretch>
        </p:blipFill>
        <p:spPr>
          <a:xfrm rot="8178771">
            <a:off x="871291" y="1249079"/>
            <a:ext cx="914401" cy="793027"/>
          </a:xfrm>
          <a:prstGeom prst="rect">
            <a:avLst/>
          </a:prstGeom>
          <a:ln w="12700">
            <a:miter lim="400000"/>
          </a:ln>
        </p:spPr>
      </p:pic>
      <p:sp>
        <p:nvSpPr>
          <p:cNvPr id="114" name="TextBox 8"/>
          <p:cNvSpPr txBox="1"/>
          <p:nvPr/>
        </p:nvSpPr>
        <p:spPr>
          <a:xfrm>
            <a:off x="1711479" y="1630098"/>
            <a:ext cx="3689609" cy="3005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a:lvl1pPr>
          </a:lstStyle>
          <a:p>
            <a:r>
              <a:t>A simple SVG logo (e.g. a circle, square etc.)</a:t>
            </a:r>
          </a:p>
        </p:txBody>
      </p:sp>
      <p:sp>
        <p:nvSpPr>
          <p:cNvPr id="115" name="Rectangle 9"/>
          <p:cNvSpPr/>
          <p:nvPr/>
        </p:nvSpPr>
        <p:spPr>
          <a:xfrm>
            <a:off x="567579" y="2089370"/>
            <a:ext cx="5431440" cy="3446627"/>
          </a:xfrm>
          <a:prstGeom prst="rect">
            <a:avLst/>
          </a:prstGeom>
          <a:ln w="12700">
            <a:solidFill>
              <a:srgbClr val="44546A"/>
            </a:solidFill>
            <a:prstDash val="sysDot"/>
            <a:miter/>
          </a:ln>
        </p:spPr>
        <p:txBody>
          <a:bodyPr lIns="45719" rIns="45719" anchor="ctr"/>
          <a:lstStyle/>
          <a:p>
            <a:pPr algn="ctr">
              <a:defRPr>
                <a:solidFill>
                  <a:srgbClr val="FFFFFF"/>
                </a:solidFill>
              </a:defRPr>
            </a:pPr>
            <a:endParaRPr/>
          </a:p>
        </p:txBody>
      </p:sp>
      <p:sp>
        <p:nvSpPr>
          <p:cNvPr id="116" name="Rectangle 10"/>
          <p:cNvSpPr/>
          <p:nvPr/>
        </p:nvSpPr>
        <p:spPr>
          <a:xfrm>
            <a:off x="6220666" y="2089370"/>
            <a:ext cx="5431439" cy="3446627"/>
          </a:xfrm>
          <a:prstGeom prst="rect">
            <a:avLst/>
          </a:prstGeom>
          <a:ln w="12700">
            <a:solidFill>
              <a:srgbClr val="44546A"/>
            </a:solidFill>
            <a:prstDash val="sysDot"/>
            <a:miter/>
          </a:ln>
        </p:spPr>
        <p:txBody>
          <a:bodyPr lIns="45719" rIns="45719" anchor="ctr"/>
          <a:lstStyle/>
          <a:p>
            <a:pPr algn="ctr">
              <a:defRPr>
                <a:solidFill>
                  <a:srgbClr val="FFFFFF"/>
                </a:solidFill>
              </a:defRPr>
            </a:pPr>
            <a:endParaRPr/>
          </a:p>
        </p:txBody>
      </p:sp>
      <p:sp>
        <p:nvSpPr>
          <p:cNvPr id="117" name="Rectangle 11"/>
          <p:cNvSpPr/>
          <p:nvPr/>
        </p:nvSpPr>
        <p:spPr>
          <a:xfrm>
            <a:off x="0" y="6015037"/>
            <a:ext cx="12192000" cy="842963"/>
          </a:xfrm>
          <a:prstGeom prst="rect">
            <a:avLst/>
          </a:prstGeom>
          <a:solidFill>
            <a:schemeClr val="accent1"/>
          </a:solidFill>
          <a:ln w="12700">
            <a:solidFill>
              <a:srgbClr val="32538F"/>
            </a:solidFill>
            <a:miter/>
          </a:ln>
        </p:spPr>
        <p:txBody>
          <a:bodyPr lIns="45719" rIns="45719" anchor="ctr"/>
          <a:lstStyle/>
          <a:p>
            <a:pPr algn="ctr">
              <a:defRPr>
                <a:solidFill>
                  <a:srgbClr val="FFFFFF"/>
                </a:solidFill>
              </a:defRPr>
            </a:pPr>
            <a:endParaRPr/>
          </a:p>
        </p:txBody>
      </p:sp>
      <p:sp>
        <p:nvSpPr>
          <p:cNvPr id="118" name="TextBox 13"/>
          <p:cNvSpPr txBox="1"/>
          <p:nvPr/>
        </p:nvSpPr>
        <p:spPr>
          <a:xfrm>
            <a:off x="1436819" y="3450273"/>
            <a:ext cx="4045569" cy="13927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r>
              <a:rPr dirty="0"/>
              <a:t>Your website’s content goes here.</a:t>
            </a:r>
            <a:br>
              <a:rPr dirty="0"/>
            </a:br>
            <a:r>
              <a:rPr dirty="0">
                <a:solidFill>
                  <a:srgbClr val="AFABAB"/>
                </a:solidFill>
              </a:rPr>
              <a:t>(</a:t>
            </a:r>
            <a:r>
              <a:rPr sz="1600" dirty="0">
                <a:solidFill>
                  <a:srgbClr val="AFABAB"/>
                </a:solidFill>
              </a:rPr>
              <a:t>your content should include lists, images, links)</a:t>
            </a:r>
            <a:br>
              <a:rPr sz="1600" dirty="0">
                <a:solidFill>
                  <a:srgbClr val="AFABAB"/>
                </a:solidFill>
              </a:rPr>
            </a:br>
            <a:br>
              <a:rPr sz="1600" dirty="0">
                <a:solidFill>
                  <a:srgbClr val="AFABAB"/>
                </a:solidFill>
              </a:rPr>
            </a:br>
            <a:br>
              <a:rPr sz="1600" dirty="0">
                <a:solidFill>
                  <a:srgbClr val="AFABAB"/>
                </a:solidFill>
              </a:rPr>
            </a:br>
            <a:endParaRPr sz="1600" dirty="0">
              <a:solidFill>
                <a:srgbClr val="AFABAB"/>
              </a:solidFill>
            </a:endParaRPr>
          </a:p>
        </p:txBody>
      </p:sp>
      <p:sp>
        <p:nvSpPr>
          <p:cNvPr id="119" name="TextBox 15"/>
          <p:cNvSpPr txBox="1"/>
          <p:nvPr/>
        </p:nvSpPr>
        <p:spPr>
          <a:xfrm>
            <a:off x="7117183" y="3457113"/>
            <a:ext cx="2220589" cy="3330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r>
              <a:rPr dirty="0"/>
              <a:t>A table using table tag.</a:t>
            </a:r>
          </a:p>
        </p:txBody>
      </p:sp>
      <p:sp>
        <p:nvSpPr>
          <p:cNvPr id="120" name="TextBox 2"/>
          <p:cNvSpPr txBox="1"/>
          <p:nvPr/>
        </p:nvSpPr>
        <p:spPr>
          <a:xfrm>
            <a:off x="-2" y="6473685"/>
            <a:ext cx="12192001" cy="333089"/>
          </a:xfrm>
          <a:prstGeom prst="rect">
            <a:avLst/>
          </a:prstGeom>
          <a:solidFill>
            <a:schemeClr val="accent2"/>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a:solidFill>
                  <a:srgbClr val="FFFFFF"/>
                </a:solidFill>
              </a:defRPr>
            </a:pPr>
            <a:r>
              <a:t>Obligatory Exercise: Task 2.  [</a:t>
            </a:r>
            <a:r>
              <a:rPr>
                <a:solidFill>
                  <a:srgbClr val="000000"/>
                </a:solidFill>
              </a:rPr>
              <a:t>The task is to make a webpage (i.e., html file) containing necessary tags.</a:t>
            </a:r>
            <a:r>
              <a:t>]</a:t>
            </a:r>
          </a:p>
        </p:txBody>
      </p:sp>
      <p:pic>
        <p:nvPicPr>
          <p:cNvPr id="5" name="Picture 4" descr="A screenshot of a computer&#10;&#10;AI-generated content may be incorrect.">
            <a:extLst>
              <a:ext uri="{FF2B5EF4-FFF2-40B4-BE49-F238E27FC236}">
                <a16:creationId xmlns:a16="http://schemas.microsoft.com/office/drawing/2014/main" id="{3557E2FF-8049-A488-9248-46F4D633D4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7" y="1466567"/>
            <a:ext cx="5723459" cy="4189721"/>
          </a:xfrm>
          <a:prstGeom prst="rect">
            <a:avLst/>
          </a:prstGeom>
        </p:spPr>
      </p:pic>
      <p:pic>
        <p:nvPicPr>
          <p:cNvPr id="7" name="Picture 6" descr="A screen shot of a computer program&#10;&#10;AI-generated content may be incorrect.">
            <a:extLst>
              <a:ext uri="{FF2B5EF4-FFF2-40B4-BE49-F238E27FC236}">
                <a16:creationId xmlns:a16="http://schemas.microsoft.com/office/drawing/2014/main" id="{8387287A-FE7D-0798-79B6-ED31DFE093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54230" y="2062722"/>
            <a:ext cx="3237770" cy="4483529"/>
          </a:xfrm>
          <a:prstGeom prst="rect">
            <a:avLst/>
          </a:prstGeom>
        </p:spPr>
      </p:pic>
      <p:pic>
        <p:nvPicPr>
          <p:cNvPr id="9" name="Picture 8" descr="A screenshot of a computer program&#10;&#10;AI-generated content may be incorrect.">
            <a:extLst>
              <a:ext uri="{FF2B5EF4-FFF2-40B4-BE49-F238E27FC236}">
                <a16:creationId xmlns:a16="http://schemas.microsoft.com/office/drawing/2014/main" id="{2693B5E7-1E61-DE12-936A-D2C4868E81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53313" y="894230"/>
            <a:ext cx="4014118" cy="3078624"/>
          </a:xfrm>
          <a:prstGeom prst="rect">
            <a:avLst/>
          </a:prstGeom>
        </p:spPr>
      </p:pic>
      <p:sp>
        <p:nvSpPr>
          <p:cNvPr id="11" name="TextBox 10">
            <a:extLst>
              <a:ext uri="{FF2B5EF4-FFF2-40B4-BE49-F238E27FC236}">
                <a16:creationId xmlns:a16="http://schemas.microsoft.com/office/drawing/2014/main" id="{1FA3C67B-A2C7-5C6E-410E-F0FE09DE87CE}"/>
              </a:ext>
            </a:extLst>
          </p:cNvPr>
          <p:cNvSpPr txBox="1"/>
          <p:nvPr/>
        </p:nvSpPr>
        <p:spPr>
          <a:xfrm>
            <a:off x="4459841" y="5690366"/>
            <a:ext cx="447654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NO" sz="1800" b="0" i="0" u="none" strike="noStrike" cap="none" spc="0" normalizeH="0" baseline="0" dirty="0">
                <a:ln>
                  <a:noFill/>
                </a:ln>
                <a:solidFill>
                  <a:srgbClr val="000000"/>
                </a:solidFill>
                <a:effectLst/>
                <a:uFillTx/>
                <a:latin typeface="+mj-lt"/>
                <a:ea typeface="+mj-ea"/>
                <a:cs typeface="+mj-cs"/>
                <a:sym typeface="Calibri"/>
              </a:rPr>
              <a:t>I also used CSS in a sep</a:t>
            </a:r>
            <a:r>
              <a:rPr kumimoji="0" lang="en-GB" sz="1800" b="0" i="0" u="none" strike="noStrike" cap="none" spc="0" normalizeH="0" baseline="0" dirty="0">
                <a:ln>
                  <a:noFill/>
                </a:ln>
                <a:solidFill>
                  <a:srgbClr val="000000"/>
                </a:solidFill>
                <a:effectLst/>
                <a:uFillTx/>
                <a:latin typeface="+mj-lt"/>
                <a:ea typeface="+mj-ea"/>
                <a:cs typeface="+mj-cs"/>
                <a:sym typeface="Calibri"/>
              </a:rPr>
              <a:t>a</a:t>
            </a:r>
            <a:r>
              <a:rPr kumimoji="0" lang="en-NO" sz="1800" b="0" i="0" u="none" strike="noStrike" cap="none" spc="0" normalizeH="0" baseline="0" dirty="0">
                <a:ln>
                  <a:noFill/>
                </a:ln>
                <a:solidFill>
                  <a:srgbClr val="000000"/>
                </a:solidFill>
                <a:effectLst/>
                <a:uFillTx/>
                <a:latin typeface="+mj-lt"/>
                <a:ea typeface="+mj-ea"/>
                <a:cs typeface="+mj-cs"/>
                <a:sym typeface="Calibri"/>
              </a:rPr>
              <a:t>rate file for decoration</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Box 4"/>
          <p:cNvSpPr txBox="1"/>
          <p:nvPr/>
        </p:nvSpPr>
        <p:spPr>
          <a:xfrm>
            <a:off x="1699083" y="365760"/>
            <a:ext cx="9275763" cy="11887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pPr>
              <a:lnSpc>
                <a:spcPct val="90000"/>
              </a:lnSpc>
              <a:spcBef>
                <a:spcPts val="600"/>
              </a:spcBef>
              <a:defRPr sz="2400">
                <a:latin typeface="Calibri Light"/>
                <a:ea typeface="Calibri Light"/>
                <a:cs typeface="Calibri Light"/>
                <a:sym typeface="Calibri Light"/>
              </a:defRPr>
            </a:pPr>
            <a:r>
              <a:t>Pick a website you wish (for example </a:t>
            </a:r>
            <a:r>
              <a:rPr u="sng">
                <a:solidFill>
                  <a:srgbClr val="0563C1"/>
                </a:solidFill>
                <a:uFill>
                  <a:solidFill>
                    <a:srgbClr val="0563C1"/>
                  </a:solidFill>
                </a:uFill>
                <a:hlinkClick r:id="rId2"/>
              </a:rPr>
              <a:t>www.google.com</a:t>
            </a:r>
            <a:r>
              <a:t>). Using ping utility (</a:t>
            </a:r>
            <a:r>
              <a:rPr u="sng">
                <a:solidFill>
                  <a:srgbClr val="0563C1"/>
                </a:solidFill>
                <a:uFill>
                  <a:solidFill>
                    <a:srgbClr val="0563C1"/>
                  </a:solidFill>
                </a:uFill>
                <a:hlinkClick r:id="rId3"/>
              </a:rPr>
              <a:t>window</a:t>
            </a:r>
            <a:r>
              <a:t>/</a:t>
            </a:r>
            <a:r>
              <a:rPr u="sng">
                <a:solidFill>
                  <a:srgbClr val="0563C1"/>
                </a:solidFill>
                <a:uFill>
                  <a:solidFill>
                    <a:srgbClr val="0563C1"/>
                  </a:solidFill>
                </a:uFill>
                <a:hlinkClick r:id="rId4"/>
              </a:rPr>
              <a:t>macOS</a:t>
            </a:r>
            <a:r>
              <a:t>) and wireshark find answer to the following questions:</a:t>
            </a:r>
          </a:p>
        </p:txBody>
      </p:sp>
      <p:sp>
        <p:nvSpPr>
          <p:cNvPr id="123" name="TextBox 3"/>
          <p:cNvSpPr txBox="1"/>
          <p:nvPr/>
        </p:nvSpPr>
        <p:spPr>
          <a:xfrm>
            <a:off x="1699082" y="1711815"/>
            <a:ext cx="9275766" cy="40416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marL="370331" indent="-370331" defTabSz="740663">
              <a:lnSpc>
                <a:spcPct val="90000"/>
              </a:lnSpc>
              <a:spcBef>
                <a:spcPts val="400"/>
              </a:spcBef>
              <a:buSzPct val="100000"/>
              <a:buAutoNum type="alphaLcPeriod"/>
              <a:defRPr sz="1782">
                <a:latin typeface="Calibri Light"/>
                <a:ea typeface="Calibri Light"/>
                <a:cs typeface="Calibri Light"/>
                <a:sym typeface="Calibri Light"/>
              </a:defRPr>
            </a:pPr>
            <a:endParaRPr dirty="0"/>
          </a:p>
          <a:p>
            <a:pPr marL="370331" indent="-370331" defTabSz="740663">
              <a:lnSpc>
                <a:spcPct val="90000"/>
              </a:lnSpc>
              <a:spcBef>
                <a:spcPts val="400"/>
              </a:spcBef>
              <a:buSzPct val="100000"/>
              <a:buAutoNum type="alphaLcPeriod"/>
              <a:defRPr sz="1782">
                <a:latin typeface="Calibri Light"/>
                <a:ea typeface="Calibri Light"/>
                <a:cs typeface="Calibri Light"/>
                <a:sym typeface="Calibri Light"/>
              </a:defRPr>
            </a:pPr>
            <a:r>
              <a:rPr dirty="0"/>
              <a:t>Run &lt;ping -n 5 </a:t>
            </a:r>
            <a:r>
              <a:rPr dirty="0" err="1"/>
              <a:t>www.yoursite.com</a:t>
            </a:r>
            <a:r>
              <a:rPr dirty="0"/>
              <a:t>&gt; or &lt;ping -c 5 </a:t>
            </a:r>
            <a:r>
              <a:rPr dirty="0" err="1"/>
              <a:t>www.yoursite.com</a:t>
            </a:r>
            <a:r>
              <a:rPr dirty="0"/>
              <a:t>&gt; in your </a:t>
            </a:r>
            <a:r>
              <a:rPr dirty="0" err="1"/>
              <a:t>cmd</a:t>
            </a:r>
            <a:r>
              <a:rPr dirty="0"/>
              <a:t>/terminal while sniffing the network by </a:t>
            </a:r>
            <a:r>
              <a:rPr dirty="0" err="1"/>
              <a:t>wireshark</a:t>
            </a:r>
            <a:r>
              <a:rPr dirty="0"/>
              <a:t>.</a:t>
            </a:r>
          </a:p>
          <a:p>
            <a:pPr marL="370331" indent="-370331" defTabSz="740663">
              <a:lnSpc>
                <a:spcPct val="90000"/>
              </a:lnSpc>
              <a:spcBef>
                <a:spcPts val="400"/>
              </a:spcBef>
              <a:buSzPct val="100000"/>
              <a:buAutoNum type="alphaLcPeriod"/>
              <a:defRPr sz="1782">
                <a:latin typeface="Calibri Light"/>
                <a:ea typeface="Calibri Light"/>
                <a:cs typeface="Calibri Light"/>
                <a:sym typeface="Calibri Light"/>
              </a:defRPr>
            </a:pPr>
            <a:r>
              <a:rPr dirty="0"/>
              <a:t>What is the IP address of the website you pick?</a:t>
            </a:r>
          </a:p>
          <a:p>
            <a:pPr marL="370331" indent="-370331" defTabSz="740663">
              <a:lnSpc>
                <a:spcPct val="90000"/>
              </a:lnSpc>
              <a:spcBef>
                <a:spcPts val="400"/>
              </a:spcBef>
              <a:buSzPct val="100000"/>
              <a:buAutoNum type="alphaLcPeriod"/>
              <a:defRPr sz="1782">
                <a:latin typeface="Calibri Light"/>
                <a:ea typeface="Calibri Light"/>
                <a:cs typeface="Calibri Light"/>
                <a:sym typeface="Calibri Light"/>
              </a:defRPr>
            </a:pPr>
            <a:r>
              <a:rPr dirty="0"/>
              <a:t>How many packets have you captured overall and how many have you captured from this website?</a:t>
            </a:r>
          </a:p>
          <a:p>
            <a:pPr marL="370331" indent="-370331" defTabSz="740663">
              <a:lnSpc>
                <a:spcPct val="90000"/>
              </a:lnSpc>
              <a:spcBef>
                <a:spcPts val="400"/>
              </a:spcBef>
              <a:buSzPct val="100000"/>
              <a:buAutoNum type="alphaLcPeriod"/>
              <a:defRPr sz="1782">
                <a:latin typeface="Calibri Light"/>
                <a:ea typeface="Calibri Light"/>
                <a:cs typeface="Calibri Light"/>
                <a:sym typeface="Calibri Light"/>
              </a:defRPr>
            </a:pPr>
            <a:r>
              <a:rPr dirty="0"/>
              <a:t>What protocol does the ping utility use?</a:t>
            </a:r>
          </a:p>
          <a:p>
            <a:pPr marL="370331" indent="-370331" defTabSz="740663">
              <a:lnSpc>
                <a:spcPct val="90000"/>
              </a:lnSpc>
              <a:spcBef>
                <a:spcPts val="400"/>
              </a:spcBef>
              <a:buSzPct val="100000"/>
              <a:buAutoNum type="alphaLcPeriod"/>
              <a:defRPr sz="1782">
                <a:latin typeface="Calibri Light"/>
                <a:ea typeface="Calibri Light"/>
                <a:cs typeface="Calibri Light"/>
                <a:sym typeface="Calibri Light"/>
              </a:defRPr>
            </a:pPr>
            <a:r>
              <a:rPr dirty="0"/>
              <a:t>Using only </a:t>
            </a:r>
            <a:r>
              <a:rPr dirty="0" err="1"/>
              <a:t>wireshark</a:t>
            </a:r>
            <a:r>
              <a:rPr dirty="0"/>
              <a:t>, compute the RTT (Round Trip Time) – how long it took since your ping request was sent and until the ping reply was received?</a:t>
            </a:r>
          </a:p>
          <a:p>
            <a:pPr marL="370331" indent="-370331" defTabSz="740663">
              <a:lnSpc>
                <a:spcPct val="90000"/>
              </a:lnSpc>
              <a:spcBef>
                <a:spcPts val="400"/>
              </a:spcBef>
              <a:buSzPct val="100000"/>
              <a:buAutoNum type="alphaLcPeriod"/>
              <a:defRPr sz="1782">
                <a:latin typeface="Calibri Light"/>
                <a:ea typeface="Calibri Light"/>
                <a:cs typeface="Calibri Light"/>
                <a:sym typeface="Calibri Light"/>
              </a:defRPr>
            </a:pPr>
            <a:r>
              <a:rPr dirty="0"/>
              <a:t>How many TCP packets have your computer sent or received?</a:t>
            </a:r>
          </a:p>
          <a:p>
            <a:pPr marL="462915" indent="-370331" defTabSz="740663">
              <a:lnSpc>
                <a:spcPct val="90000"/>
              </a:lnSpc>
              <a:spcBef>
                <a:spcPts val="400"/>
              </a:spcBef>
              <a:buSzPct val="100000"/>
              <a:buAutoNum type="alphaLcPeriod"/>
              <a:defRPr sz="1782">
                <a:latin typeface="Calibri Light"/>
                <a:ea typeface="Calibri Light"/>
                <a:cs typeface="Calibri Light"/>
                <a:sym typeface="Calibri Light"/>
              </a:defRPr>
            </a:pPr>
            <a:endParaRPr dirty="0"/>
          </a:p>
          <a:p>
            <a:pPr defTabSz="740663">
              <a:lnSpc>
                <a:spcPct val="90000"/>
              </a:lnSpc>
              <a:spcBef>
                <a:spcPts val="400"/>
              </a:spcBef>
              <a:defRPr sz="1782">
                <a:latin typeface="Calibri Light"/>
                <a:ea typeface="Calibri Light"/>
                <a:cs typeface="Calibri Light"/>
                <a:sym typeface="Calibri Light"/>
              </a:defRPr>
            </a:pPr>
            <a:endParaRPr dirty="0"/>
          </a:p>
        </p:txBody>
      </p:sp>
      <p:sp>
        <p:nvSpPr>
          <p:cNvPr id="124" name="TextBox 2"/>
          <p:cNvSpPr txBox="1"/>
          <p:nvPr/>
        </p:nvSpPr>
        <p:spPr>
          <a:xfrm>
            <a:off x="-2" y="6473685"/>
            <a:ext cx="12192001" cy="333089"/>
          </a:xfrm>
          <a:prstGeom prst="rect">
            <a:avLst/>
          </a:prstGeom>
          <a:solidFill>
            <a:schemeClr val="accent2"/>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defRPr>
            </a:lvl1pPr>
          </a:lstStyle>
          <a:p>
            <a:r>
              <a:t>Obligatory Exercise:: Task 3</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A9D75-9766-A30E-3CE9-E9F4DA20B20A}"/>
              </a:ext>
            </a:extLst>
          </p:cNvPr>
          <p:cNvSpPr>
            <a:spLocks noGrp="1"/>
          </p:cNvSpPr>
          <p:nvPr>
            <p:ph type="title"/>
          </p:nvPr>
        </p:nvSpPr>
        <p:spPr/>
        <p:txBody>
          <a:bodyPr/>
          <a:lstStyle/>
          <a:p>
            <a:r>
              <a:rPr lang="en-NO" dirty="0"/>
              <a:t>Answers for task 3</a:t>
            </a:r>
          </a:p>
        </p:txBody>
      </p:sp>
      <p:sp>
        <p:nvSpPr>
          <p:cNvPr id="3" name="Text Placeholder 2">
            <a:extLst>
              <a:ext uri="{FF2B5EF4-FFF2-40B4-BE49-F238E27FC236}">
                <a16:creationId xmlns:a16="http://schemas.microsoft.com/office/drawing/2014/main" id="{D94266DE-D455-D8F8-609F-F2A4BCF5096A}"/>
              </a:ext>
            </a:extLst>
          </p:cNvPr>
          <p:cNvSpPr>
            <a:spLocks noGrp="1"/>
          </p:cNvSpPr>
          <p:nvPr>
            <p:ph type="body" idx="1"/>
          </p:nvPr>
        </p:nvSpPr>
        <p:spPr/>
        <p:txBody>
          <a:bodyPr/>
          <a:lstStyle/>
          <a:p>
            <a:r>
              <a:rPr lang="en-NO" dirty="0"/>
              <a:t>b. 142.250.74.164</a:t>
            </a:r>
          </a:p>
          <a:p>
            <a:r>
              <a:rPr lang="en-GB" dirty="0"/>
              <a:t>c. Overall: 12934, from this website: 10</a:t>
            </a:r>
            <a:endParaRPr lang="en-NO" dirty="0"/>
          </a:p>
          <a:p>
            <a:r>
              <a:rPr lang="en-GB" dirty="0"/>
              <a:t>d. ICMP – Internet Control Message Protocol</a:t>
            </a:r>
          </a:p>
          <a:p>
            <a:r>
              <a:rPr lang="en-GB" dirty="0"/>
              <a:t>e. RTT for the first one = </a:t>
            </a:r>
            <a:r>
              <a:rPr lang="en-NO" dirty="0"/>
              <a:t>0.024090 or roughly 24 ms</a:t>
            </a:r>
          </a:p>
          <a:p>
            <a:r>
              <a:rPr lang="en-GB" dirty="0"/>
              <a:t>f. 5817</a:t>
            </a:r>
            <a:endParaRPr lang="en-NO" dirty="0"/>
          </a:p>
        </p:txBody>
      </p:sp>
      <p:pic>
        <p:nvPicPr>
          <p:cNvPr id="5" name="Picture 4" descr="A screenshot of a computer&#10;&#10;AI-generated content may be incorrect.">
            <a:extLst>
              <a:ext uri="{FF2B5EF4-FFF2-40B4-BE49-F238E27FC236}">
                <a16:creationId xmlns:a16="http://schemas.microsoft.com/office/drawing/2014/main" id="{BF7CF764-7073-75E5-1FA3-3C7764174E56}"/>
              </a:ext>
            </a:extLst>
          </p:cNvPr>
          <p:cNvPicPr>
            <a:picLocks noChangeAspect="1"/>
          </p:cNvPicPr>
          <p:nvPr/>
        </p:nvPicPr>
        <p:blipFill>
          <a:blip r:embed="rId2">
            <a:extLst>
              <a:ext uri="{28A0092B-C50C-407E-A947-70E740481C1C}">
                <a14:useLocalDpi xmlns:a14="http://schemas.microsoft.com/office/drawing/2010/main" val="0"/>
              </a:ext>
            </a:extLst>
          </a:blip>
          <a:srcRect l="501" r="16830"/>
          <a:stretch/>
        </p:blipFill>
        <p:spPr>
          <a:xfrm>
            <a:off x="1" y="4584356"/>
            <a:ext cx="3261928" cy="2273643"/>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DBE637D8-9184-D966-5E17-73845DAF79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4956" y="-2188"/>
            <a:ext cx="4373476" cy="3385752"/>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9515CFCA-CF5F-9B5F-4B99-46B9BFFF7B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1949" y="3750877"/>
            <a:ext cx="4373477" cy="3117893"/>
          </a:xfrm>
          <a:prstGeom prst="rect">
            <a:avLst/>
          </a:prstGeom>
        </p:spPr>
      </p:pic>
    </p:spTree>
    <p:extLst>
      <p:ext uri="{BB962C8B-B14F-4D97-AF65-F5344CB8AC3E}">
        <p14:creationId xmlns:p14="http://schemas.microsoft.com/office/powerpoint/2010/main" val="121666013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extBox 1"/>
          <p:cNvSpPr txBox="1"/>
          <p:nvPr/>
        </p:nvSpPr>
        <p:spPr>
          <a:xfrm>
            <a:off x="-1" y="-1"/>
            <a:ext cx="12185375" cy="333089"/>
          </a:xfrm>
          <a:prstGeom prst="rect">
            <a:avLst/>
          </a:prstGeom>
          <a:solidFill>
            <a:srgbClr val="44546A"/>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defRPr>
            </a:lvl1pPr>
          </a:lstStyle>
          <a:p>
            <a:r>
              <a:t>XPath Syntax to find nodes that have specific attribute</a:t>
            </a:r>
          </a:p>
        </p:txBody>
      </p:sp>
      <p:sp>
        <p:nvSpPr>
          <p:cNvPr id="127" name="TextBox 2"/>
          <p:cNvSpPr txBox="1"/>
          <p:nvPr/>
        </p:nvSpPr>
        <p:spPr>
          <a:xfrm>
            <a:off x="237876" y="708990"/>
            <a:ext cx="11490961" cy="45243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t>Look into the following webpage: </a:t>
            </a:r>
          </a:p>
          <a:p>
            <a:r>
              <a:rPr u="sng" dirty="0">
                <a:solidFill>
                  <a:srgbClr val="0563C1"/>
                </a:solidFill>
                <a:uFill>
                  <a:solidFill>
                    <a:srgbClr val="0563C1"/>
                  </a:solidFill>
                </a:uFill>
                <a:hlinkClick r:id="rId2"/>
              </a:rPr>
              <a:t>http://www.pythonscraping.com/pages/warandpeace.html</a:t>
            </a:r>
            <a:r>
              <a:rPr dirty="0"/>
              <a:t> </a:t>
            </a:r>
          </a:p>
          <a:p>
            <a:endParaRPr dirty="0"/>
          </a:p>
          <a:p>
            <a:r>
              <a:rPr dirty="0"/>
              <a:t>On this page, the lines spoken by characters in the story are in read, whereas  the names of characters are in green. </a:t>
            </a:r>
          </a:p>
          <a:p>
            <a:r>
              <a:rPr dirty="0"/>
              <a:t>You can see the span tags, which reference the appropriate CSS classes, in the following sample of the page's source code: </a:t>
            </a:r>
          </a:p>
          <a:p>
            <a:endParaRPr dirty="0"/>
          </a:p>
          <a:p>
            <a:r>
              <a:rPr dirty="0"/>
              <a:t>&lt;span class="red"&gt;Heavens! What a virulent attack!&lt;/span&gt; replied </a:t>
            </a:r>
          </a:p>
          <a:p>
            <a:r>
              <a:rPr dirty="0"/>
              <a:t>&lt;span class="green"&gt;the prince&lt;/span&gt;, not in the least </a:t>
            </a:r>
            <a:r>
              <a:rPr dirty="0" err="1"/>
              <a:t>disconcerned</a:t>
            </a:r>
            <a:r>
              <a:rPr dirty="0"/>
              <a:t> </a:t>
            </a:r>
          </a:p>
          <a:p>
            <a:r>
              <a:rPr dirty="0"/>
              <a:t>By this reception. </a:t>
            </a:r>
          </a:p>
          <a:p>
            <a:endParaRPr dirty="0"/>
          </a:p>
          <a:p>
            <a:endParaRPr dirty="0"/>
          </a:p>
          <a:p>
            <a:r>
              <a:rPr dirty="0"/>
              <a:t>Write XPath expression to select elements that are red. </a:t>
            </a:r>
            <a:endParaRPr lang="nb-NO" dirty="0"/>
          </a:p>
          <a:p>
            <a:r>
              <a:rPr lang="en-GB" dirty="0"/>
              <a:t>Answer:</a:t>
            </a:r>
          </a:p>
          <a:p>
            <a:r>
              <a:rPr lang="en-GB" dirty="0"/>
              <a:t>//span[@class='red’]</a:t>
            </a:r>
          </a:p>
          <a:p>
            <a:endParaRPr dirty="0"/>
          </a:p>
        </p:txBody>
      </p:sp>
      <p:sp>
        <p:nvSpPr>
          <p:cNvPr id="128" name="TextBox 4"/>
          <p:cNvSpPr txBox="1"/>
          <p:nvPr/>
        </p:nvSpPr>
        <p:spPr>
          <a:xfrm>
            <a:off x="-2" y="6473685"/>
            <a:ext cx="12192001" cy="333089"/>
          </a:xfrm>
          <a:prstGeom prst="rect">
            <a:avLst/>
          </a:prstGeom>
          <a:solidFill>
            <a:schemeClr val="accent2"/>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defRPr>
            </a:lvl1pPr>
          </a:lstStyle>
          <a:p>
            <a:r>
              <a:t>Obligatory Exercise: Task 4</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extBox 7"/>
          <p:cNvSpPr txBox="1"/>
          <p:nvPr/>
        </p:nvSpPr>
        <p:spPr>
          <a:xfrm>
            <a:off x="-2" y="1074478"/>
            <a:ext cx="4750904" cy="5380595"/>
          </a:xfrm>
          <a:prstGeom prst="rect">
            <a:avLst/>
          </a:prstGeom>
          <a:solidFill>
            <a:srgbClr val="D0CECE"/>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600"/>
            </a:pPr>
            <a:r>
              <a:rPr dirty="0"/>
              <a:t>&lt;College&gt;</a:t>
            </a:r>
          </a:p>
          <a:p>
            <a:pPr>
              <a:defRPr sz="1600"/>
            </a:pPr>
            <a:r>
              <a:rPr dirty="0"/>
              <a:t>     &lt;</a:t>
            </a:r>
            <a:r>
              <a:rPr dirty="0" err="1"/>
              <a:t>FootBall</a:t>
            </a:r>
            <a:r>
              <a:rPr dirty="0"/>
              <a:t>&gt;</a:t>
            </a:r>
          </a:p>
          <a:p>
            <a:pPr>
              <a:defRPr sz="1600"/>
            </a:pPr>
            <a:r>
              <a:rPr dirty="0"/>
              <a:t>         &lt;Members&gt;20&lt;/Members&gt;</a:t>
            </a:r>
          </a:p>
          <a:p>
            <a:pPr>
              <a:defRPr sz="1600"/>
            </a:pPr>
            <a:r>
              <a:rPr dirty="0"/>
              <a:t>         &lt;Coach&gt;Archie Theron&lt;/Coach&gt;</a:t>
            </a:r>
          </a:p>
          <a:p>
            <a:pPr>
              <a:defRPr sz="1600"/>
            </a:pPr>
            <a:r>
              <a:rPr dirty="0"/>
              <a:t>         &lt;Name&gt;Wild cats&lt;/Name&gt;</a:t>
            </a:r>
          </a:p>
          <a:p>
            <a:pPr>
              <a:defRPr sz="1600"/>
            </a:pPr>
            <a:r>
              <a:rPr dirty="0"/>
              <a:t>         &lt;</a:t>
            </a:r>
            <a:r>
              <a:rPr dirty="0" err="1"/>
              <a:t>StarPlayer</a:t>
            </a:r>
            <a:r>
              <a:rPr dirty="0"/>
              <a:t>&gt;David Perry&lt;/</a:t>
            </a:r>
            <a:r>
              <a:rPr dirty="0" err="1"/>
              <a:t>StarPlayer</a:t>
            </a:r>
            <a:r>
              <a:rPr dirty="0"/>
              <a:t>&gt;</a:t>
            </a:r>
          </a:p>
          <a:p>
            <a:pPr>
              <a:defRPr sz="1600"/>
            </a:pPr>
            <a:r>
              <a:rPr dirty="0"/>
              <a:t>     &lt;/</a:t>
            </a:r>
            <a:r>
              <a:rPr dirty="0" err="1"/>
              <a:t>FootBall</a:t>
            </a:r>
            <a:r>
              <a:rPr dirty="0"/>
              <a:t>&gt;</a:t>
            </a:r>
          </a:p>
          <a:p>
            <a:pPr>
              <a:defRPr sz="1600"/>
            </a:pPr>
            <a:r>
              <a:rPr dirty="0"/>
              <a:t>     &lt;</a:t>
            </a:r>
            <a:r>
              <a:rPr dirty="0" err="1"/>
              <a:t>VolleyBall</a:t>
            </a:r>
            <a:r>
              <a:rPr dirty="0"/>
              <a:t>&gt;</a:t>
            </a:r>
          </a:p>
          <a:p>
            <a:pPr>
              <a:defRPr sz="1600"/>
            </a:pPr>
            <a:r>
              <a:rPr dirty="0"/>
              <a:t>         &lt;Members&gt;24&lt;/Members&gt;</a:t>
            </a:r>
          </a:p>
          <a:p>
            <a:pPr>
              <a:defRPr sz="1600"/>
            </a:pPr>
            <a:r>
              <a:rPr dirty="0"/>
              <a:t>         &lt;Coach&gt;Tim Jose&lt;/Coach&gt;</a:t>
            </a:r>
          </a:p>
          <a:p>
            <a:pPr>
              <a:defRPr sz="1600"/>
            </a:pPr>
            <a:r>
              <a:rPr dirty="0"/>
              <a:t>         &lt;Name&gt;Avengers&lt;/Name&gt;</a:t>
            </a:r>
          </a:p>
          <a:p>
            <a:pPr>
              <a:defRPr sz="1600"/>
            </a:pPr>
            <a:r>
              <a:rPr dirty="0"/>
              <a:t>         &lt;</a:t>
            </a:r>
            <a:r>
              <a:rPr dirty="0" err="1"/>
              <a:t>StarPlayer</a:t>
            </a:r>
            <a:r>
              <a:rPr dirty="0"/>
              <a:t>&gt;Lindsay Rowen&lt;/</a:t>
            </a:r>
            <a:r>
              <a:rPr dirty="0" err="1"/>
              <a:t>StarPlayer</a:t>
            </a:r>
            <a:r>
              <a:rPr dirty="0"/>
              <a:t>&gt;</a:t>
            </a:r>
          </a:p>
          <a:p>
            <a:pPr>
              <a:defRPr sz="1600"/>
            </a:pPr>
            <a:r>
              <a:rPr dirty="0"/>
              <a:t>     &lt;/</a:t>
            </a:r>
            <a:r>
              <a:rPr dirty="0" err="1"/>
              <a:t>VolleyBall</a:t>
            </a:r>
            <a:r>
              <a:rPr dirty="0"/>
              <a:t>&gt;</a:t>
            </a:r>
          </a:p>
          <a:p>
            <a:pPr>
              <a:defRPr sz="1600"/>
            </a:pPr>
            <a:r>
              <a:rPr dirty="0"/>
              <a:t>     &lt;</a:t>
            </a:r>
            <a:r>
              <a:rPr dirty="0" err="1"/>
              <a:t>FoosBall</a:t>
            </a:r>
            <a:r>
              <a:rPr dirty="0"/>
              <a:t>&gt;</a:t>
            </a:r>
          </a:p>
          <a:p>
            <a:pPr>
              <a:defRPr sz="1600"/>
            </a:pPr>
            <a:r>
              <a:rPr dirty="0"/>
              <a:t>         &lt;Members&gt;22&lt;/Members&gt;</a:t>
            </a:r>
          </a:p>
          <a:p>
            <a:pPr>
              <a:defRPr sz="1600"/>
            </a:pPr>
            <a:r>
              <a:rPr dirty="0"/>
              <a:t>         &lt;Coach&gt;Rahul Mehra&lt;/Coach&gt;</a:t>
            </a:r>
          </a:p>
          <a:p>
            <a:pPr>
              <a:defRPr sz="1600"/>
            </a:pPr>
            <a:r>
              <a:rPr dirty="0"/>
              <a:t>         &lt;Name&gt;</a:t>
            </a:r>
            <a:r>
              <a:rPr dirty="0" err="1"/>
              <a:t>Playerz</a:t>
            </a:r>
            <a:r>
              <a:rPr dirty="0"/>
              <a:t>&lt;/Name&gt;</a:t>
            </a:r>
          </a:p>
          <a:p>
            <a:pPr>
              <a:defRPr sz="1600"/>
            </a:pPr>
            <a:r>
              <a:rPr dirty="0"/>
              <a:t>         &lt;</a:t>
            </a:r>
            <a:r>
              <a:rPr dirty="0" err="1"/>
              <a:t>StarPlayer</a:t>
            </a:r>
            <a:r>
              <a:rPr dirty="0"/>
              <a:t>&gt;Amanda Ren&lt;/</a:t>
            </a:r>
            <a:r>
              <a:rPr dirty="0" err="1"/>
              <a:t>StarPlayer</a:t>
            </a:r>
            <a:r>
              <a:rPr dirty="0"/>
              <a:t>&gt;</a:t>
            </a:r>
          </a:p>
          <a:p>
            <a:pPr>
              <a:defRPr sz="1600"/>
            </a:pPr>
            <a:r>
              <a:rPr dirty="0"/>
              <a:t>     &lt;/</a:t>
            </a:r>
            <a:r>
              <a:rPr dirty="0" err="1"/>
              <a:t>FoosBall</a:t>
            </a:r>
            <a:r>
              <a:rPr dirty="0"/>
              <a:t>&gt;</a:t>
            </a:r>
          </a:p>
          <a:p>
            <a:pPr>
              <a:defRPr sz="1600"/>
            </a:pPr>
            <a:r>
              <a:rPr dirty="0"/>
              <a:t>&lt;/College&gt;</a:t>
            </a:r>
          </a:p>
        </p:txBody>
      </p:sp>
      <p:grpSp>
        <p:nvGrpSpPr>
          <p:cNvPr id="133" name="Arrow: Pentagon 9"/>
          <p:cNvGrpSpPr/>
          <p:nvPr/>
        </p:nvGrpSpPr>
        <p:grpSpPr>
          <a:xfrm>
            <a:off x="5579285" y="441847"/>
            <a:ext cx="4426223" cy="463827"/>
            <a:chOff x="0" y="0"/>
            <a:chExt cx="4426222" cy="463826"/>
          </a:xfrm>
        </p:grpSpPr>
        <p:sp>
          <p:nvSpPr>
            <p:cNvPr id="131" name="Shape"/>
            <p:cNvSpPr/>
            <p:nvPr/>
          </p:nvSpPr>
          <p:spPr>
            <a:xfrm>
              <a:off x="0" y="-1"/>
              <a:ext cx="4426223" cy="4638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468" y="0"/>
                  </a:lnTo>
                  <a:lnTo>
                    <a:pt x="21600" y="10800"/>
                  </a:lnTo>
                  <a:lnTo>
                    <a:pt x="20468" y="21600"/>
                  </a:lnTo>
                  <a:lnTo>
                    <a:pt x="0" y="21600"/>
                  </a:lnTo>
                  <a:close/>
                </a:path>
              </a:pathLst>
            </a:custGeom>
            <a:solidFill>
              <a:srgbClr val="595959"/>
            </a:solidFill>
            <a:ln w="12700" cap="flat">
              <a:solidFill>
                <a:srgbClr val="32538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132" name="Select nodes based on node name"/>
            <p:cNvSpPr txBox="1"/>
            <p:nvPr/>
          </p:nvSpPr>
          <p:spPr>
            <a:xfrm>
              <a:off x="52070" y="65369"/>
              <a:ext cx="4206127"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Select nodes based on node name</a:t>
              </a:r>
            </a:p>
          </p:txBody>
        </p:sp>
      </p:grpSp>
      <p:sp>
        <p:nvSpPr>
          <p:cNvPr id="134" name="TextBox 11"/>
          <p:cNvSpPr txBox="1"/>
          <p:nvPr/>
        </p:nvSpPr>
        <p:spPr>
          <a:xfrm>
            <a:off x="5628039" y="970878"/>
            <a:ext cx="6481638" cy="56938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a:pPr>
            <a:r>
              <a:rPr dirty="0"/>
              <a:t>Write an XPath expression that searches for nodes that has name that ends with Player, </a:t>
            </a:r>
          </a:p>
          <a:p>
            <a:pPr>
              <a:defRPr sz="1400"/>
            </a:pPr>
            <a:endParaRPr dirty="0"/>
          </a:p>
          <a:p>
            <a:pPr>
              <a:defRPr sz="1400"/>
            </a:pPr>
            <a:r>
              <a:rPr lang="en-GB" dirty="0"/>
              <a:t>//*[ends-with(name(), 'Player')]</a:t>
            </a:r>
          </a:p>
          <a:p>
            <a:pPr>
              <a:defRPr sz="1400"/>
            </a:pPr>
            <a:endParaRPr dirty="0"/>
          </a:p>
          <a:p>
            <a:pPr>
              <a:defRPr sz="1400"/>
            </a:pPr>
            <a:endParaRPr dirty="0"/>
          </a:p>
          <a:p>
            <a:pPr>
              <a:defRPr sz="1400"/>
            </a:pPr>
            <a:r>
              <a:rPr dirty="0"/>
              <a:t>Write the output below:  </a:t>
            </a:r>
            <a:endParaRPr lang="en-NO" dirty="0"/>
          </a:p>
          <a:p>
            <a:pPr>
              <a:defRPr sz="1400"/>
            </a:pPr>
            <a:endParaRPr lang="en-NO" dirty="0"/>
          </a:p>
          <a:p>
            <a:pPr>
              <a:defRPr sz="1400"/>
            </a:pPr>
            <a:r>
              <a:rPr lang="en-GB" b="0" i="0" dirty="0">
                <a:solidFill>
                  <a:schemeClr val="tx1"/>
                </a:solidFill>
                <a:effectLst/>
              </a:rPr>
              <a:t>&lt;</a:t>
            </a:r>
            <a:r>
              <a:rPr lang="en-GB" b="0" i="0" dirty="0" err="1">
                <a:solidFill>
                  <a:schemeClr val="tx1"/>
                </a:solidFill>
                <a:effectLst/>
              </a:rPr>
              <a:t>StarPlayer</a:t>
            </a:r>
            <a:r>
              <a:rPr lang="en-GB" b="0" i="0" dirty="0">
                <a:solidFill>
                  <a:schemeClr val="tx1"/>
                </a:solidFill>
                <a:effectLst/>
              </a:rPr>
              <a:t>&gt;David Perry&lt;/</a:t>
            </a:r>
            <a:r>
              <a:rPr lang="en-GB" b="0" i="0" dirty="0" err="1">
                <a:solidFill>
                  <a:schemeClr val="tx1"/>
                </a:solidFill>
                <a:effectLst/>
              </a:rPr>
              <a:t>StarPlayer</a:t>
            </a:r>
            <a:r>
              <a:rPr lang="en-GB" b="0" i="0" dirty="0">
                <a:solidFill>
                  <a:schemeClr val="tx1"/>
                </a:solidFill>
                <a:effectLst/>
              </a:rPr>
              <a:t>&gt; </a:t>
            </a:r>
          </a:p>
          <a:p>
            <a:pPr>
              <a:defRPr sz="1400"/>
            </a:pPr>
            <a:r>
              <a:rPr lang="en-GB" b="0" i="0" dirty="0">
                <a:solidFill>
                  <a:schemeClr val="tx1"/>
                </a:solidFill>
                <a:effectLst/>
              </a:rPr>
              <a:t>&lt;</a:t>
            </a:r>
            <a:r>
              <a:rPr lang="en-GB" b="0" i="0" dirty="0" err="1">
                <a:solidFill>
                  <a:schemeClr val="tx1"/>
                </a:solidFill>
                <a:effectLst/>
              </a:rPr>
              <a:t>StarPlayer</a:t>
            </a:r>
            <a:r>
              <a:rPr lang="en-GB" b="0" i="0" dirty="0">
                <a:solidFill>
                  <a:schemeClr val="tx1"/>
                </a:solidFill>
                <a:effectLst/>
              </a:rPr>
              <a:t>&gt;Lindsay Rowen&lt;/</a:t>
            </a:r>
            <a:r>
              <a:rPr lang="en-GB" b="0" i="0" dirty="0" err="1">
                <a:solidFill>
                  <a:schemeClr val="tx1"/>
                </a:solidFill>
                <a:effectLst/>
              </a:rPr>
              <a:t>StarPlayer</a:t>
            </a:r>
            <a:r>
              <a:rPr lang="en-GB" b="0" i="0" dirty="0">
                <a:solidFill>
                  <a:schemeClr val="tx1"/>
                </a:solidFill>
                <a:effectLst/>
              </a:rPr>
              <a:t>&gt; </a:t>
            </a:r>
          </a:p>
          <a:p>
            <a:pPr>
              <a:defRPr sz="1400"/>
            </a:pPr>
            <a:r>
              <a:rPr lang="en-GB" b="0" i="0" dirty="0">
                <a:solidFill>
                  <a:schemeClr val="tx1"/>
                </a:solidFill>
                <a:effectLst/>
              </a:rPr>
              <a:t>&lt;</a:t>
            </a:r>
            <a:r>
              <a:rPr lang="en-GB" b="0" i="0" dirty="0" err="1">
                <a:solidFill>
                  <a:schemeClr val="tx1"/>
                </a:solidFill>
                <a:effectLst/>
              </a:rPr>
              <a:t>StarPlayer</a:t>
            </a:r>
            <a:r>
              <a:rPr lang="en-GB" b="0" i="0" dirty="0">
                <a:solidFill>
                  <a:schemeClr val="tx1"/>
                </a:solidFill>
                <a:effectLst/>
              </a:rPr>
              <a:t>&gt;Amanda Ren&lt;/</a:t>
            </a:r>
            <a:r>
              <a:rPr lang="en-GB" b="0" i="0" dirty="0" err="1">
                <a:solidFill>
                  <a:schemeClr val="tx1"/>
                </a:solidFill>
                <a:effectLst/>
              </a:rPr>
              <a:t>StarPlayer</a:t>
            </a:r>
            <a:r>
              <a:rPr lang="en-GB" b="0" i="0" dirty="0">
                <a:solidFill>
                  <a:schemeClr val="tx1"/>
                </a:solidFill>
                <a:effectLst/>
              </a:rPr>
              <a:t>&gt;</a:t>
            </a:r>
            <a:endParaRPr dirty="0">
              <a:solidFill>
                <a:schemeClr val="tx1"/>
              </a:solidFill>
            </a:endParaRPr>
          </a:p>
          <a:p>
            <a:pPr>
              <a:defRPr sz="1400"/>
            </a:pPr>
            <a:endParaRPr dirty="0"/>
          </a:p>
          <a:p>
            <a:pPr>
              <a:defRPr sz="1400"/>
            </a:pPr>
            <a:endParaRPr dirty="0"/>
          </a:p>
          <a:p>
            <a:pPr>
              <a:defRPr sz="1400"/>
            </a:pPr>
            <a:endParaRPr dirty="0"/>
          </a:p>
          <a:p>
            <a:pPr>
              <a:defRPr sz="1400"/>
            </a:pPr>
            <a:endParaRPr dirty="0"/>
          </a:p>
          <a:p>
            <a:pPr>
              <a:defRPr sz="1400"/>
            </a:pPr>
            <a:endParaRPr dirty="0"/>
          </a:p>
          <a:p>
            <a:pPr>
              <a:defRPr sz="1400"/>
            </a:pPr>
            <a:endParaRPr dirty="0"/>
          </a:p>
          <a:p>
            <a:pPr>
              <a:defRPr sz="1400"/>
            </a:pPr>
            <a:endParaRPr dirty="0"/>
          </a:p>
          <a:p>
            <a:pPr>
              <a:defRPr sz="1400"/>
            </a:pPr>
            <a:endParaRPr dirty="0"/>
          </a:p>
          <a:p>
            <a:pPr>
              <a:defRPr sz="1400"/>
            </a:pPr>
            <a:endParaRPr dirty="0"/>
          </a:p>
          <a:p>
            <a:pPr>
              <a:defRPr sz="1400"/>
            </a:pPr>
            <a:endParaRPr dirty="0"/>
          </a:p>
          <a:p>
            <a:pPr>
              <a:defRPr sz="1400"/>
            </a:pPr>
            <a:endParaRPr dirty="0"/>
          </a:p>
          <a:p>
            <a:pPr>
              <a:defRPr sz="1400"/>
            </a:pPr>
            <a:endParaRPr dirty="0"/>
          </a:p>
          <a:p>
            <a:pPr>
              <a:defRPr sz="1400"/>
            </a:pPr>
            <a:endParaRPr dirty="0"/>
          </a:p>
          <a:p>
            <a:pPr>
              <a:defRPr sz="1400"/>
            </a:pPr>
            <a:endParaRPr dirty="0"/>
          </a:p>
          <a:p>
            <a:pPr>
              <a:defRPr sz="1400"/>
            </a:pPr>
            <a:endParaRPr dirty="0"/>
          </a:p>
        </p:txBody>
      </p:sp>
      <p:grpSp>
        <p:nvGrpSpPr>
          <p:cNvPr id="137" name="Arrow: Pentagon 1"/>
          <p:cNvGrpSpPr/>
          <p:nvPr/>
        </p:nvGrpSpPr>
        <p:grpSpPr>
          <a:xfrm>
            <a:off x="119" y="585413"/>
            <a:ext cx="2279373" cy="470453"/>
            <a:chOff x="0" y="0"/>
            <a:chExt cx="2279371" cy="470452"/>
          </a:xfrm>
        </p:grpSpPr>
        <p:sp>
          <p:nvSpPr>
            <p:cNvPr id="135" name="Shape"/>
            <p:cNvSpPr/>
            <p:nvPr/>
          </p:nvSpPr>
          <p:spPr>
            <a:xfrm>
              <a:off x="0" y="-1"/>
              <a:ext cx="2279372" cy="47045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371" y="0"/>
                  </a:lnTo>
                  <a:lnTo>
                    <a:pt x="21600" y="10800"/>
                  </a:lnTo>
                  <a:lnTo>
                    <a:pt x="19371" y="21600"/>
                  </a:lnTo>
                  <a:lnTo>
                    <a:pt x="0" y="21600"/>
                  </a:lnTo>
                  <a:close/>
                </a:path>
              </a:pathLst>
            </a:custGeom>
            <a:solidFill>
              <a:srgbClr val="595959"/>
            </a:solidFill>
            <a:ln w="12700" cap="flat">
              <a:solidFill>
                <a:srgbClr val="32538F"/>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136" name="Sample XML"/>
            <p:cNvSpPr txBox="1"/>
            <p:nvPr/>
          </p:nvSpPr>
          <p:spPr>
            <a:xfrm>
              <a:off x="52070" y="68682"/>
              <a:ext cx="2057619"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defRPr>
              </a:lvl1pPr>
            </a:lstStyle>
            <a:p>
              <a:r>
                <a:t>Sample XML</a:t>
              </a:r>
            </a:p>
          </p:txBody>
        </p:sp>
      </p:grpSp>
      <p:sp>
        <p:nvSpPr>
          <p:cNvPr id="138" name="TextBox 2"/>
          <p:cNvSpPr txBox="1"/>
          <p:nvPr/>
        </p:nvSpPr>
        <p:spPr>
          <a:xfrm>
            <a:off x="-1" y="-1"/>
            <a:ext cx="12192001" cy="333089"/>
          </a:xfrm>
          <a:prstGeom prst="rect">
            <a:avLst/>
          </a:prstGeom>
          <a:solidFill>
            <a:srgbClr val="44546A"/>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defRPr>
            </a:lvl1pPr>
          </a:lstStyle>
          <a:p>
            <a:r>
              <a:t>XPath Syntax to select nodes with names equal to or containing some string </a:t>
            </a:r>
          </a:p>
        </p:txBody>
      </p:sp>
      <p:sp>
        <p:nvSpPr>
          <p:cNvPr id="139" name="TextBox 6"/>
          <p:cNvSpPr txBox="1"/>
          <p:nvPr/>
        </p:nvSpPr>
        <p:spPr>
          <a:xfrm>
            <a:off x="-2" y="6473685"/>
            <a:ext cx="12192001" cy="333089"/>
          </a:xfrm>
          <a:prstGeom prst="rect">
            <a:avLst/>
          </a:prstGeom>
          <a:solidFill>
            <a:schemeClr val="accent2"/>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defRPr>
            </a:lvl1pPr>
          </a:lstStyle>
          <a:p>
            <a:r>
              <a:t>Obligatory Exercise: Task 5</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 name="Arrow: Pentagon 5"/>
          <p:cNvGrpSpPr/>
          <p:nvPr/>
        </p:nvGrpSpPr>
        <p:grpSpPr>
          <a:xfrm>
            <a:off x="5579285" y="441847"/>
            <a:ext cx="4426223" cy="463827"/>
            <a:chOff x="0" y="0"/>
            <a:chExt cx="4426222" cy="463826"/>
          </a:xfrm>
        </p:grpSpPr>
        <p:sp>
          <p:nvSpPr>
            <p:cNvPr id="141" name="Shape"/>
            <p:cNvSpPr/>
            <p:nvPr/>
          </p:nvSpPr>
          <p:spPr>
            <a:xfrm>
              <a:off x="0" y="-1"/>
              <a:ext cx="4426223" cy="4638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468" y="0"/>
                  </a:lnTo>
                  <a:lnTo>
                    <a:pt x="21600" y="10800"/>
                  </a:lnTo>
                  <a:lnTo>
                    <a:pt x="20468" y="21600"/>
                  </a:lnTo>
                  <a:lnTo>
                    <a:pt x="0" y="21600"/>
                  </a:lnTo>
                  <a:close/>
                </a:path>
              </a:pathLst>
            </a:custGeom>
            <a:solidFill>
              <a:srgbClr val="595959"/>
            </a:solidFill>
            <a:ln w="12700" cap="flat">
              <a:solidFill>
                <a:srgbClr val="32538F"/>
              </a:solidFill>
              <a:prstDash val="solid"/>
              <a:miter lim="800000"/>
            </a:ln>
            <a:effectLst/>
          </p:spPr>
          <p:txBody>
            <a:bodyPr wrap="square" lIns="45719" tIns="45719" rIns="45719" bIns="45719" numCol="1" anchor="ctr">
              <a:noAutofit/>
            </a:bodyPr>
            <a:lstStyle/>
            <a:p>
              <a:pPr algn="ctr">
                <a:defRPr>
                  <a:solidFill>
                    <a:srgbClr val="FFFFFF"/>
                  </a:solidFill>
                  <a:latin typeface="Biome Light"/>
                  <a:ea typeface="Biome Light"/>
                  <a:cs typeface="Biome Light"/>
                  <a:sym typeface="Biome Light"/>
                </a:defRPr>
              </a:pPr>
              <a:endParaRPr/>
            </a:p>
          </p:txBody>
        </p:sp>
        <p:sp>
          <p:nvSpPr>
            <p:cNvPr id="142" name="Select nodes based on node name"/>
            <p:cNvSpPr txBox="1"/>
            <p:nvPr/>
          </p:nvSpPr>
          <p:spPr>
            <a:xfrm>
              <a:off x="52070" y="46493"/>
              <a:ext cx="4206127" cy="37084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latin typeface="Biome Light"/>
                  <a:ea typeface="Biome Light"/>
                  <a:cs typeface="Biome Light"/>
                  <a:sym typeface="Biome Light"/>
                </a:defRPr>
              </a:lvl1pPr>
            </a:lstStyle>
            <a:p>
              <a:r>
                <a:t>Select nodes based on node name</a:t>
              </a:r>
            </a:p>
          </p:txBody>
        </p:sp>
      </p:grpSp>
      <p:sp>
        <p:nvSpPr>
          <p:cNvPr id="144" name="TextBox 2"/>
          <p:cNvSpPr txBox="1"/>
          <p:nvPr/>
        </p:nvSpPr>
        <p:spPr>
          <a:xfrm>
            <a:off x="5628039" y="970878"/>
            <a:ext cx="6481638" cy="74174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a:latin typeface="Biome Light"/>
                <a:ea typeface="Biome Light"/>
                <a:cs typeface="Biome Light"/>
                <a:sym typeface="Biome Light"/>
              </a:defRPr>
            </a:pPr>
            <a:r>
              <a:rPr dirty="0"/>
              <a:t>See the HTML source of the webpage (</a:t>
            </a:r>
            <a:r>
              <a:rPr u="sng" dirty="0">
                <a:solidFill>
                  <a:srgbClr val="0563C1"/>
                </a:solidFill>
                <a:uFill>
                  <a:solidFill>
                    <a:srgbClr val="0563C1"/>
                  </a:solidFill>
                </a:uFill>
                <a:hlinkClick r:id="rId2"/>
              </a:rPr>
              <a:t>http://www.pythonscraping.com/pages/page3.html</a:t>
            </a:r>
            <a:r>
              <a:rPr dirty="0"/>
              <a:t>) and write an XPath expression that selects the texts of Item titles, e.g., 'Vegetable Basket', 'Russian Nesting Dolls', etc.  </a:t>
            </a:r>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r>
              <a:rPr lang="en-GB" dirty="0"/>
              <a:t>//tr[@class='gift']/td[1]</a:t>
            </a:r>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r>
              <a:rPr dirty="0"/>
              <a:t>Write the output below:  </a:t>
            </a:r>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r>
              <a:rPr lang="en-GB" dirty="0"/>
              <a:t>Vegetable Basket</a:t>
            </a:r>
          </a:p>
          <a:p>
            <a:pPr>
              <a:defRPr sz="1400">
                <a:latin typeface="Biome Light"/>
                <a:ea typeface="Biome Light"/>
                <a:cs typeface="Biome Light"/>
                <a:sym typeface="Biome Light"/>
              </a:defRPr>
            </a:pPr>
            <a:r>
              <a:rPr lang="en-GB" dirty="0"/>
              <a:t>Russian Nesting Dolls</a:t>
            </a:r>
          </a:p>
          <a:p>
            <a:pPr>
              <a:defRPr sz="1400">
                <a:latin typeface="Biome Light"/>
                <a:ea typeface="Biome Light"/>
                <a:cs typeface="Biome Light"/>
                <a:sym typeface="Biome Light"/>
              </a:defRPr>
            </a:pPr>
            <a:r>
              <a:rPr lang="en-GB" dirty="0"/>
              <a:t>Fish Painting</a:t>
            </a:r>
          </a:p>
          <a:p>
            <a:pPr>
              <a:defRPr sz="1400">
                <a:latin typeface="Biome Light"/>
                <a:ea typeface="Biome Light"/>
                <a:cs typeface="Biome Light"/>
                <a:sym typeface="Biome Light"/>
              </a:defRPr>
            </a:pPr>
            <a:r>
              <a:rPr lang="en-GB" dirty="0"/>
              <a:t>Dead Parrot</a:t>
            </a:r>
          </a:p>
          <a:p>
            <a:pPr>
              <a:defRPr sz="1400">
                <a:latin typeface="Biome Light"/>
                <a:ea typeface="Biome Light"/>
                <a:cs typeface="Biome Light"/>
                <a:sym typeface="Biome Light"/>
              </a:defRPr>
            </a:pPr>
            <a:r>
              <a:rPr lang="en-GB" dirty="0"/>
              <a:t>Mystery Box</a:t>
            </a:r>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p:txBody>
      </p:sp>
      <p:grpSp>
        <p:nvGrpSpPr>
          <p:cNvPr id="147" name="Arrow: Pentagon 8"/>
          <p:cNvGrpSpPr/>
          <p:nvPr/>
        </p:nvGrpSpPr>
        <p:grpSpPr>
          <a:xfrm>
            <a:off x="119" y="585413"/>
            <a:ext cx="2279373" cy="470453"/>
            <a:chOff x="0" y="0"/>
            <a:chExt cx="2279371" cy="470452"/>
          </a:xfrm>
        </p:grpSpPr>
        <p:sp>
          <p:nvSpPr>
            <p:cNvPr id="145" name="Shape"/>
            <p:cNvSpPr/>
            <p:nvPr/>
          </p:nvSpPr>
          <p:spPr>
            <a:xfrm>
              <a:off x="0" y="-1"/>
              <a:ext cx="2279372" cy="47045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371" y="0"/>
                  </a:lnTo>
                  <a:lnTo>
                    <a:pt x="21600" y="10800"/>
                  </a:lnTo>
                  <a:lnTo>
                    <a:pt x="19371" y="21600"/>
                  </a:lnTo>
                  <a:lnTo>
                    <a:pt x="0" y="21600"/>
                  </a:lnTo>
                  <a:close/>
                </a:path>
              </a:pathLst>
            </a:custGeom>
            <a:solidFill>
              <a:srgbClr val="595959"/>
            </a:solidFill>
            <a:ln w="12700" cap="flat">
              <a:solidFill>
                <a:srgbClr val="32538F"/>
              </a:solidFill>
              <a:prstDash val="solid"/>
              <a:miter lim="800000"/>
            </a:ln>
            <a:effectLst/>
          </p:spPr>
          <p:txBody>
            <a:bodyPr wrap="square" lIns="45719" tIns="45719" rIns="45719" bIns="45719" numCol="1" anchor="ctr">
              <a:noAutofit/>
            </a:bodyPr>
            <a:lstStyle/>
            <a:p>
              <a:pPr algn="ctr">
                <a:defRPr sz="1600">
                  <a:solidFill>
                    <a:srgbClr val="FFFFFF"/>
                  </a:solidFill>
                  <a:latin typeface="Biome Light"/>
                  <a:ea typeface="Biome Light"/>
                  <a:cs typeface="Biome Light"/>
                  <a:sym typeface="Biome Light"/>
                </a:defRPr>
              </a:pPr>
              <a:endParaRPr/>
            </a:p>
          </p:txBody>
        </p:sp>
        <p:sp>
          <p:nvSpPr>
            <p:cNvPr id="146" name="Sample Webpage"/>
            <p:cNvSpPr txBox="1"/>
            <p:nvPr/>
          </p:nvSpPr>
          <p:spPr>
            <a:xfrm>
              <a:off x="52070" y="68855"/>
              <a:ext cx="2057619" cy="3327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sz="1600">
                  <a:solidFill>
                    <a:srgbClr val="FFFFFF"/>
                  </a:solidFill>
                  <a:latin typeface="Biome Light"/>
                  <a:ea typeface="Biome Light"/>
                  <a:cs typeface="Biome Light"/>
                  <a:sym typeface="Biome Light"/>
                </a:defRPr>
              </a:lvl1pPr>
            </a:lstStyle>
            <a:p>
              <a:r>
                <a:t>Sample Webpage</a:t>
              </a:r>
            </a:p>
          </p:txBody>
        </p:sp>
      </p:grpSp>
      <p:sp>
        <p:nvSpPr>
          <p:cNvPr id="148" name="TextBox 4"/>
          <p:cNvSpPr txBox="1"/>
          <p:nvPr/>
        </p:nvSpPr>
        <p:spPr>
          <a:xfrm>
            <a:off x="-1" y="-1"/>
            <a:ext cx="12192001" cy="370841"/>
          </a:xfrm>
          <a:prstGeom prst="rect">
            <a:avLst/>
          </a:prstGeom>
          <a:solidFill>
            <a:srgbClr val="44546A"/>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latin typeface="Biome Light"/>
                <a:ea typeface="Biome Light"/>
                <a:cs typeface="Biome Light"/>
                <a:sym typeface="Biome Light"/>
              </a:defRPr>
            </a:lvl1pPr>
          </a:lstStyle>
          <a:p>
            <a:r>
              <a:t>XPath Syntax to select nodes with names equal to or containing some string </a:t>
            </a:r>
          </a:p>
        </p:txBody>
      </p:sp>
      <p:sp>
        <p:nvSpPr>
          <p:cNvPr id="149" name="TextBox 5"/>
          <p:cNvSpPr txBox="1"/>
          <p:nvPr/>
        </p:nvSpPr>
        <p:spPr>
          <a:xfrm>
            <a:off x="-2" y="6473685"/>
            <a:ext cx="12192001" cy="370841"/>
          </a:xfrm>
          <a:prstGeom prst="rect">
            <a:avLst/>
          </a:prstGeom>
          <a:solidFill>
            <a:schemeClr val="accent2"/>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latin typeface="Biome Light"/>
                <a:ea typeface="Biome Light"/>
                <a:cs typeface="Biome Light"/>
                <a:sym typeface="Biome Light"/>
              </a:defRPr>
            </a:lvl1pPr>
          </a:lstStyle>
          <a:p>
            <a:r>
              <a:t>Obligatory Exercise: Task 6</a:t>
            </a:r>
          </a:p>
        </p:txBody>
      </p:sp>
      <p:pic>
        <p:nvPicPr>
          <p:cNvPr id="150" name="Picture 13" descr="Picture 13"/>
          <p:cNvPicPr>
            <a:picLocks noChangeAspect="1"/>
          </p:cNvPicPr>
          <p:nvPr/>
        </p:nvPicPr>
        <p:blipFill>
          <a:blip r:embed="rId3"/>
          <a:stretch>
            <a:fillRect/>
          </a:stretch>
        </p:blipFill>
        <p:spPr>
          <a:xfrm>
            <a:off x="0" y="1082041"/>
            <a:ext cx="5393634" cy="5038477"/>
          </a:xfrm>
          <a:prstGeom prst="rect">
            <a:avLst/>
          </a:prstGeom>
          <a:ln w="12700">
            <a:miter lim="400000"/>
          </a:ln>
        </p:spPr>
      </p:pic>
      <p:sp>
        <p:nvSpPr>
          <p:cNvPr id="151" name="TextBox 7"/>
          <p:cNvSpPr txBox="1"/>
          <p:nvPr/>
        </p:nvSpPr>
        <p:spPr>
          <a:xfrm>
            <a:off x="-20541" y="6102627"/>
            <a:ext cx="6296107"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latin typeface="Biome Light"/>
                <a:ea typeface="Biome Light"/>
                <a:cs typeface="Biome Light"/>
                <a:sym typeface="Biome Light"/>
              </a:defRPr>
            </a:lvl1pPr>
          </a:lstStyle>
          <a:p>
            <a:r>
              <a:t>http://www.pythonscraping.com/pages/page3.html</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5" name="Arrow: Pentagon 9"/>
          <p:cNvGrpSpPr/>
          <p:nvPr/>
        </p:nvGrpSpPr>
        <p:grpSpPr>
          <a:xfrm>
            <a:off x="5579285" y="441847"/>
            <a:ext cx="4426223" cy="463827"/>
            <a:chOff x="0" y="0"/>
            <a:chExt cx="4426222" cy="463826"/>
          </a:xfrm>
        </p:grpSpPr>
        <p:sp>
          <p:nvSpPr>
            <p:cNvPr id="153" name="Shape"/>
            <p:cNvSpPr/>
            <p:nvPr/>
          </p:nvSpPr>
          <p:spPr>
            <a:xfrm>
              <a:off x="0" y="-1"/>
              <a:ext cx="4426223" cy="46382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468" y="0"/>
                  </a:lnTo>
                  <a:lnTo>
                    <a:pt x="21600" y="10800"/>
                  </a:lnTo>
                  <a:lnTo>
                    <a:pt x="20468" y="21600"/>
                  </a:lnTo>
                  <a:lnTo>
                    <a:pt x="0" y="21600"/>
                  </a:lnTo>
                  <a:close/>
                </a:path>
              </a:pathLst>
            </a:custGeom>
            <a:solidFill>
              <a:srgbClr val="595959"/>
            </a:solidFill>
            <a:ln w="12700" cap="flat">
              <a:solidFill>
                <a:srgbClr val="32538F"/>
              </a:solidFill>
              <a:prstDash val="solid"/>
              <a:miter lim="800000"/>
            </a:ln>
            <a:effectLst/>
          </p:spPr>
          <p:txBody>
            <a:bodyPr wrap="square" lIns="45719" tIns="45719" rIns="45719" bIns="45719" numCol="1" anchor="ctr">
              <a:noAutofit/>
            </a:bodyPr>
            <a:lstStyle/>
            <a:p>
              <a:pPr algn="ctr">
                <a:defRPr>
                  <a:solidFill>
                    <a:srgbClr val="FFFFFF"/>
                  </a:solidFill>
                  <a:latin typeface="Biome Light"/>
                  <a:ea typeface="Biome Light"/>
                  <a:cs typeface="Biome Light"/>
                  <a:sym typeface="Biome Light"/>
                </a:defRPr>
              </a:pPr>
              <a:endParaRPr/>
            </a:p>
          </p:txBody>
        </p:sp>
        <p:sp>
          <p:nvSpPr>
            <p:cNvPr id="154" name="Select nodes based on node name"/>
            <p:cNvSpPr txBox="1"/>
            <p:nvPr/>
          </p:nvSpPr>
          <p:spPr>
            <a:xfrm>
              <a:off x="52070" y="46493"/>
              <a:ext cx="4206127" cy="37084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a:solidFill>
                    <a:srgbClr val="FFFFFF"/>
                  </a:solidFill>
                  <a:latin typeface="Biome Light"/>
                  <a:ea typeface="Biome Light"/>
                  <a:cs typeface="Biome Light"/>
                  <a:sym typeface="Biome Light"/>
                </a:defRPr>
              </a:lvl1pPr>
            </a:lstStyle>
            <a:p>
              <a:r>
                <a:t>Select nodes based on node name</a:t>
              </a:r>
            </a:p>
          </p:txBody>
        </p:sp>
      </p:grpSp>
      <p:sp>
        <p:nvSpPr>
          <p:cNvPr id="156" name="TextBox 11"/>
          <p:cNvSpPr txBox="1"/>
          <p:nvPr/>
        </p:nvSpPr>
        <p:spPr>
          <a:xfrm>
            <a:off x="5628039" y="970878"/>
            <a:ext cx="6481638" cy="48840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400">
                <a:latin typeface="Biome Light"/>
                <a:ea typeface="Biome Light"/>
                <a:cs typeface="Biome Light"/>
                <a:sym typeface="Biome Light"/>
              </a:defRPr>
            </a:pPr>
            <a:r>
              <a:rPr dirty="0"/>
              <a:t>See the HTML source of the webpage (</a:t>
            </a:r>
            <a:r>
              <a:rPr u="sng" dirty="0">
                <a:solidFill>
                  <a:srgbClr val="0563C1"/>
                </a:solidFill>
                <a:uFill>
                  <a:solidFill>
                    <a:srgbClr val="0563C1"/>
                  </a:solidFill>
                </a:uFill>
                <a:hlinkClick r:id="rId2"/>
              </a:rPr>
              <a:t>http://www.pythonscraping.com/pages/page3.html</a:t>
            </a:r>
            <a:r>
              <a:rPr dirty="0"/>
              <a:t>) and write an XPath expression that selects the texts of Cost for the first item,  </a:t>
            </a:r>
            <a:r>
              <a:rPr dirty="0" err="1"/>
              <a:t>I.e</a:t>
            </a:r>
            <a:r>
              <a:rPr dirty="0"/>
              <a:t>,. $15.00.  </a:t>
            </a:r>
          </a:p>
          <a:p>
            <a:pPr>
              <a:defRPr sz="1400">
                <a:latin typeface="Biome Light"/>
                <a:ea typeface="Biome Light"/>
                <a:cs typeface="Biome Light"/>
                <a:sym typeface="Biome Light"/>
              </a:defRPr>
            </a:pPr>
            <a:r>
              <a:rPr dirty="0"/>
              <a:t>But you have to start from the first image item: </a:t>
            </a:r>
          </a:p>
          <a:p>
            <a:pPr>
              <a:defRPr sz="1400"/>
            </a:pPr>
            <a:r>
              <a:rPr u="sng" dirty="0">
                <a:solidFill>
                  <a:srgbClr val="0563C1"/>
                </a:solidFill>
                <a:uFill>
                  <a:solidFill>
                    <a:srgbClr val="0563C1"/>
                  </a:solidFill>
                </a:uFill>
                <a:hlinkClick r:id="rId3"/>
              </a:rPr>
              <a:t>/</a:t>
            </a:r>
            <a:r>
              <a:rPr u="sng" dirty="0">
                <a:solidFill>
                  <a:srgbClr val="0563C1"/>
                </a:solidFill>
                <a:uFill>
                  <a:solidFill>
                    <a:srgbClr val="0563C1"/>
                  </a:solidFill>
                </a:uFill>
                <a:latin typeface="Biome Light"/>
                <a:ea typeface="Biome Light"/>
                <a:cs typeface="Biome Light"/>
                <a:sym typeface="Biome Light"/>
                <a:hlinkClick r:id="rId3"/>
              </a:rPr>
              <a:t>/img[@src="../img/gifts/img1.jpg</a:t>
            </a:r>
            <a:r>
              <a:rPr dirty="0">
                <a:latin typeface="Biome Light"/>
                <a:ea typeface="Biome Light"/>
                <a:cs typeface="Biome Light"/>
                <a:sym typeface="Biome Light"/>
              </a:rPr>
              <a:t>"]</a:t>
            </a:r>
          </a:p>
          <a:p>
            <a:pPr>
              <a:defRPr sz="1400">
                <a:latin typeface="Biome Light"/>
                <a:ea typeface="Biome Light"/>
                <a:cs typeface="Biome Light"/>
                <a:sym typeface="Biome Light"/>
              </a:defRPr>
            </a:pPr>
            <a:r>
              <a:rPr dirty="0"/>
              <a:t>Use parent, preceding-sibling, </a:t>
            </a:r>
            <a:r>
              <a:rPr dirty="0" err="1"/>
              <a:t>etc</a:t>
            </a:r>
            <a:r>
              <a:rPr dirty="0"/>
              <a:t> to select the text $15.00 </a:t>
            </a:r>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r>
              <a:rPr dirty="0"/>
              <a:t>Write your XPath expression here: </a:t>
            </a:r>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r>
              <a:rPr lang="en-GB" dirty="0"/>
              <a:t>//</a:t>
            </a:r>
            <a:r>
              <a:rPr lang="en-GB" dirty="0" err="1"/>
              <a:t>img</a:t>
            </a:r>
            <a:r>
              <a:rPr lang="en-GB" dirty="0"/>
              <a:t>[@</a:t>
            </a:r>
            <a:r>
              <a:rPr lang="en-GB" dirty="0" err="1"/>
              <a:t>src</a:t>
            </a:r>
            <a:r>
              <a:rPr lang="en-GB" dirty="0"/>
              <a:t>='../</a:t>
            </a:r>
            <a:r>
              <a:rPr lang="en-GB" dirty="0" err="1"/>
              <a:t>img</a:t>
            </a:r>
            <a:r>
              <a:rPr lang="en-GB" dirty="0"/>
              <a:t>/gifts/img1.jpg']/parent::td/preceding-sibling::td[contains(text(), '$')]</a:t>
            </a: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r>
              <a:rPr dirty="0"/>
              <a:t>Write the output below:  </a:t>
            </a:r>
          </a:p>
          <a:p>
            <a:pPr>
              <a:defRPr sz="1400">
                <a:latin typeface="Biome Light"/>
                <a:ea typeface="Biome Light"/>
                <a:cs typeface="Biome Light"/>
                <a:sym typeface="Biome Light"/>
              </a:defRPr>
            </a:pPr>
            <a:r>
              <a:rPr lang="nb-NO" dirty="0"/>
              <a:t>&lt;</a:t>
            </a:r>
            <a:r>
              <a:rPr lang="nb-NO" dirty="0" err="1"/>
              <a:t>td</a:t>
            </a:r>
            <a:r>
              <a:rPr lang="nb-NO" dirty="0"/>
              <a:t>&gt;$15.00&lt;/</a:t>
            </a:r>
            <a:r>
              <a:rPr lang="nb-NO" dirty="0" err="1"/>
              <a:t>td</a:t>
            </a:r>
            <a:r>
              <a:rPr lang="nb-NO" dirty="0"/>
              <a:t>&gt;</a:t>
            </a: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a:p>
            <a:pPr>
              <a:defRPr sz="1400">
                <a:latin typeface="Biome Light"/>
                <a:ea typeface="Biome Light"/>
                <a:cs typeface="Biome Light"/>
                <a:sym typeface="Biome Light"/>
              </a:defRPr>
            </a:pPr>
            <a:endParaRPr dirty="0"/>
          </a:p>
        </p:txBody>
      </p:sp>
      <p:grpSp>
        <p:nvGrpSpPr>
          <p:cNvPr id="159" name="Arrow: Pentagon 1"/>
          <p:cNvGrpSpPr/>
          <p:nvPr/>
        </p:nvGrpSpPr>
        <p:grpSpPr>
          <a:xfrm>
            <a:off x="119" y="585413"/>
            <a:ext cx="2279373" cy="470453"/>
            <a:chOff x="0" y="0"/>
            <a:chExt cx="2279371" cy="470452"/>
          </a:xfrm>
        </p:grpSpPr>
        <p:sp>
          <p:nvSpPr>
            <p:cNvPr id="157" name="Shape"/>
            <p:cNvSpPr/>
            <p:nvPr/>
          </p:nvSpPr>
          <p:spPr>
            <a:xfrm>
              <a:off x="0" y="-1"/>
              <a:ext cx="2279372" cy="47045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371" y="0"/>
                  </a:lnTo>
                  <a:lnTo>
                    <a:pt x="21600" y="10800"/>
                  </a:lnTo>
                  <a:lnTo>
                    <a:pt x="19371" y="21600"/>
                  </a:lnTo>
                  <a:lnTo>
                    <a:pt x="0" y="21600"/>
                  </a:lnTo>
                  <a:close/>
                </a:path>
              </a:pathLst>
            </a:custGeom>
            <a:solidFill>
              <a:srgbClr val="595959"/>
            </a:solidFill>
            <a:ln w="12700" cap="flat">
              <a:solidFill>
                <a:srgbClr val="32538F"/>
              </a:solidFill>
              <a:prstDash val="solid"/>
              <a:miter lim="800000"/>
            </a:ln>
            <a:effectLst/>
          </p:spPr>
          <p:txBody>
            <a:bodyPr wrap="square" lIns="45719" tIns="45719" rIns="45719" bIns="45719" numCol="1" anchor="ctr">
              <a:noAutofit/>
            </a:bodyPr>
            <a:lstStyle/>
            <a:p>
              <a:pPr algn="ctr">
                <a:defRPr sz="1600">
                  <a:solidFill>
                    <a:srgbClr val="FFFFFF"/>
                  </a:solidFill>
                  <a:latin typeface="Biome Light"/>
                  <a:ea typeface="Biome Light"/>
                  <a:cs typeface="Biome Light"/>
                  <a:sym typeface="Biome Light"/>
                </a:defRPr>
              </a:pPr>
              <a:endParaRPr/>
            </a:p>
          </p:txBody>
        </p:sp>
        <p:sp>
          <p:nvSpPr>
            <p:cNvPr id="158" name="Sample Webpage"/>
            <p:cNvSpPr txBox="1"/>
            <p:nvPr/>
          </p:nvSpPr>
          <p:spPr>
            <a:xfrm>
              <a:off x="52070" y="68855"/>
              <a:ext cx="2057619" cy="33274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sz="1600">
                  <a:solidFill>
                    <a:srgbClr val="FFFFFF"/>
                  </a:solidFill>
                  <a:latin typeface="Biome Light"/>
                  <a:ea typeface="Biome Light"/>
                  <a:cs typeface="Biome Light"/>
                  <a:sym typeface="Biome Light"/>
                </a:defRPr>
              </a:lvl1pPr>
            </a:lstStyle>
            <a:p>
              <a:r>
                <a:t>Sample Webpage</a:t>
              </a:r>
            </a:p>
          </p:txBody>
        </p:sp>
      </p:grpSp>
      <p:sp>
        <p:nvSpPr>
          <p:cNvPr id="160" name="TextBox 2"/>
          <p:cNvSpPr txBox="1"/>
          <p:nvPr/>
        </p:nvSpPr>
        <p:spPr>
          <a:xfrm>
            <a:off x="-1" y="-1"/>
            <a:ext cx="12192001" cy="370841"/>
          </a:xfrm>
          <a:prstGeom prst="rect">
            <a:avLst/>
          </a:prstGeom>
          <a:solidFill>
            <a:srgbClr val="44546A"/>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latin typeface="Biome Light"/>
                <a:ea typeface="Biome Light"/>
                <a:cs typeface="Biome Light"/>
                <a:sym typeface="Biome Light"/>
              </a:defRPr>
            </a:lvl1pPr>
          </a:lstStyle>
          <a:p>
            <a:r>
              <a:t>XPath Syntax to select nodes with names equal to or containing some string </a:t>
            </a:r>
          </a:p>
        </p:txBody>
      </p:sp>
      <p:sp>
        <p:nvSpPr>
          <p:cNvPr id="161" name="TextBox 6"/>
          <p:cNvSpPr txBox="1"/>
          <p:nvPr/>
        </p:nvSpPr>
        <p:spPr>
          <a:xfrm>
            <a:off x="-2" y="6473685"/>
            <a:ext cx="12192001" cy="370841"/>
          </a:xfrm>
          <a:prstGeom prst="rect">
            <a:avLst/>
          </a:prstGeom>
          <a:solidFill>
            <a:schemeClr val="accent2"/>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latin typeface="Biome Light"/>
                <a:ea typeface="Biome Light"/>
                <a:cs typeface="Biome Light"/>
                <a:sym typeface="Biome Light"/>
              </a:defRPr>
            </a:lvl1pPr>
          </a:lstStyle>
          <a:p>
            <a:r>
              <a:t>Obligatory Exercise: Task 7</a:t>
            </a:r>
          </a:p>
        </p:txBody>
      </p:sp>
      <p:pic>
        <p:nvPicPr>
          <p:cNvPr id="162" name="Picture 4" descr="Picture 4"/>
          <p:cNvPicPr>
            <a:picLocks noChangeAspect="1"/>
          </p:cNvPicPr>
          <p:nvPr/>
        </p:nvPicPr>
        <p:blipFill>
          <a:blip r:embed="rId4"/>
          <a:stretch>
            <a:fillRect/>
          </a:stretch>
        </p:blipFill>
        <p:spPr>
          <a:xfrm>
            <a:off x="0" y="1082041"/>
            <a:ext cx="5393634" cy="5038477"/>
          </a:xfrm>
          <a:prstGeom prst="rect">
            <a:avLst/>
          </a:prstGeom>
          <a:ln w="12700">
            <a:miter lim="400000"/>
          </a:ln>
        </p:spPr>
      </p:pic>
      <p:sp>
        <p:nvSpPr>
          <p:cNvPr id="163" name="TextBox 4"/>
          <p:cNvSpPr txBox="1"/>
          <p:nvPr/>
        </p:nvSpPr>
        <p:spPr>
          <a:xfrm>
            <a:off x="-20541" y="6102627"/>
            <a:ext cx="6296107" cy="370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latin typeface="Biome Light"/>
                <a:ea typeface="Biome Light"/>
                <a:cs typeface="Biome Light"/>
                <a:sym typeface="Biome Light"/>
              </a:defRPr>
            </a:lvl1pPr>
          </a:lstStyle>
          <a:p>
            <a:r>
              <a:rPr dirty="0"/>
              <a:t>http://</a:t>
            </a:r>
            <a:r>
              <a:rPr dirty="0" err="1"/>
              <a:t>www.pythonscraping.com</a:t>
            </a:r>
            <a:r>
              <a:rPr dirty="0"/>
              <a:t>/pages/page3.html</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extBox 11"/>
          <p:cNvSpPr txBox="1"/>
          <p:nvPr/>
        </p:nvSpPr>
        <p:spPr>
          <a:xfrm>
            <a:off x="701621" y="908855"/>
            <a:ext cx="9511915" cy="38795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742950" lvl="1" indent="-285750">
              <a:lnSpc>
                <a:spcPct val="90000"/>
              </a:lnSpc>
              <a:spcBef>
                <a:spcPts val="500"/>
              </a:spcBef>
              <a:buSzPct val="100000"/>
              <a:buFont typeface="Arial"/>
              <a:buChar char="•"/>
              <a:defRPr sz="1400">
                <a:latin typeface="Biome Light"/>
                <a:ea typeface="Biome Light"/>
                <a:cs typeface="Biome Light"/>
                <a:sym typeface="Biome Light"/>
              </a:defRPr>
            </a:pPr>
            <a:endParaRPr dirty="0"/>
          </a:p>
          <a:p>
            <a:pPr lvl="1">
              <a:lnSpc>
                <a:spcPct val="90000"/>
              </a:lnSpc>
              <a:spcBef>
                <a:spcPts val="500"/>
              </a:spcBef>
              <a:defRPr sz="1400">
                <a:latin typeface="Biome Light"/>
                <a:ea typeface="Biome Light"/>
                <a:cs typeface="Biome Light"/>
                <a:sym typeface="Biome Light"/>
              </a:defRPr>
            </a:pPr>
            <a:r>
              <a:rPr dirty="0"/>
              <a:t>In this assignment you must develop a Web application for a bookstore using Django framework. You must do the following:</a:t>
            </a:r>
          </a:p>
          <a:p>
            <a:pPr lvl="1">
              <a:lnSpc>
                <a:spcPct val="90000"/>
              </a:lnSpc>
              <a:spcBef>
                <a:spcPts val="500"/>
              </a:spcBef>
              <a:defRPr sz="1400">
                <a:latin typeface="Biome Light"/>
                <a:ea typeface="Biome Light"/>
                <a:cs typeface="Biome Light"/>
                <a:sym typeface="Biome Light"/>
              </a:defRPr>
            </a:pPr>
            <a:endParaRPr dirty="0"/>
          </a:p>
          <a:p>
            <a:pPr marL="742950" lvl="1" indent="-285750">
              <a:lnSpc>
                <a:spcPct val="90000"/>
              </a:lnSpc>
              <a:spcBef>
                <a:spcPts val="500"/>
              </a:spcBef>
              <a:buSzPct val="100000"/>
              <a:buFont typeface="Arial"/>
              <a:buChar char="•"/>
              <a:defRPr sz="1400">
                <a:latin typeface="Biome Light"/>
                <a:ea typeface="Biome Light"/>
                <a:cs typeface="Biome Light"/>
                <a:sym typeface="Biome Light"/>
              </a:defRPr>
            </a:pPr>
            <a:r>
              <a:rPr dirty="0"/>
              <a:t>Set up Django </a:t>
            </a:r>
          </a:p>
          <a:p>
            <a:pPr marL="742950" lvl="1" indent="-285750">
              <a:lnSpc>
                <a:spcPct val="90000"/>
              </a:lnSpc>
              <a:spcBef>
                <a:spcPts val="500"/>
              </a:spcBef>
              <a:buSzPct val="100000"/>
              <a:buFont typeface="Arial"/>
              <a:buChar char="•"/>
              <a:defRPr sz="1400">
                <a:latin typeface="Biome Light"/>
                <a:ea typeface="Biome Light"/>
                <a:cs typeface="Biome Light"/>
                <a:sym typeface="Biome Light"/>
              </a:defRPr>
            </a:pPr>
            <a:r>
              <a:rPr dirty="0"/>
              <a:t>Create a model for the bookstore in the database that the Django ORM will manage</a:t>
            </a:r>
          </a:p>
          <a:p>
            <a:pPr marL="742950" lvl="1" indent="-285750">
              <a:lnSpc>
                <a:spcPct val="90000"/>
              </a:lnSpc>
              <a:spcBef>
                <a:spcPts val="500"/>
              </a:spcBef>
              <a:buSzPct val="100000"/>
              <a:buFont typeface="Arial"/>
              <a:buChar char="•"/>
              <a:defRPr sz="1400"/>
            </a:pPr>
            <a:r>
              <a:rPr dirty="0"/>
              <a:t>Setup the view for at least 1 template showing all book items e.g., book-title, book-author.</a:t>
            </a:r>
          </a:p>
          <a:p>
            <a:pPr marL="742950" lvl="1" indent="-285750">
              <a:lnSpc>
                <a:spcPct val="90000"/>
              </a:lnSpc>
              <a:spcBef>
                <a:spcPts val="500"/>
              </a:spcBef>
              <a:buSzPct val="100000"/>
              <a:buFont typeface="Arial"/>
              <a:buChar char="•"/>
              <a:defRPr sz="1400"/>
            </a:pPr>
            <a:r>
              <a:rPr dirty="0"/>
              <a:t>Setup the </a:t>
            </a:r>
            <a:r>
              <a:rPr dirty="0" err="1"/>
              <a:t>url</a:t>
            </a:r>
            <a:endParaRPr dirty="0"/>
          </a:p>
          <a:p>
            <a:pPr marL="457200" lvl="1" indent="0">
              <a:lnSpc>
                <a:spcPct val="90000"/>
              </a:lnSpc>
              <a:spcBef>
                <a:spcPts val="500"/>
              </a:spcBef>
              <a:buSzPct val="100000"/>
              <a:defRPr sz="1400">
                <a:latin typeface="Biome Light"/>
                <a:ea typeface="Biome Light"/>
                <a:cs typeface="Biome Light"/>
                <a:sym typeface="Biome Light"/>
              </a:defRPr>
            </a:pPr>
            <a:endParaRPr dirty="0"/>
          </a:p>
          <a:p>
            <a:pPr marL="742950" lvl="1" indent="-285750">
              <a:lnSpc>
                <a:spcPct val="90000"/>
              </a:lnSpc>
              <a:spcBef>
                <a:spcPts val="500"/>
              </a:spcBef>
              <a:buSzPct val="100000"/>
              <a:buFont typeface="Arial"/>
              <a:buChar char="•"/>
              <a:defRPr sz="1400">
                <a:latin typeface="Biome Light"/>
                <a:ea typeface="Biome Light"/>
                <a:cs typeface="Biome Light"/>
                <a:sym typeface="Biome Light"/>
              </a:defRPr>
            </a:pPr>
            <a:endParaRPr dirty="0"/>
          </a:p>
          <a:p>
            <a:pPr lvl="1">
              <a:defRPr sz="1400">
                <a:latin typeface="Biome Light"/>
                <a:ea typeface="Biome Light"/>
                <a:cs typeface="Biome Light"/>
                <a:sym typeface="Biome Light"/>
              </a:defRPr>
            </a:pPr>
            <a:r>
              <a:rPr dirty="0"/>
              <a:t>To deliver the assignment, include screenshot of the following items:</a:t>
            </a:r>
          </a:p>
          <a:p>
            <a:pPr lvl="1">
              <a:defRPr sz="1400">
                <a:latin typeface="Biome Light"/>
                <a:ea typeface="Biome Light"/>
                <a:cs typeface="Biome Light"/>
                <a:sym typeface="Biome Light"/>
              </a:defRPr>
            </a:pPr>
            <a:r>
              <a:rPr dirty="0"/>
              <a:t>- </a:t>
            </a:r>
            <a:r>
              <a:rPr dirty="0" err="1"/>
              <a:t>model.py</a:t>
            </a:r>
            <a:endParaRPr dirty="0"/>
          </a:p>
          <a:p>
            <a:pPr lvl="1">
              <a:defRPr sz="1400">
                <a:latin typeface="Biome Light"/>
                <a:ea typeface="Biome Light"/>
                <a:cs typeface="Biome Light"/>
                <a:sym typeface="Biome Light"/>
              </a:defRPr>
            </a:pPr>
            <a:r>
              <a:rPr dirty="0"/>
              <a:t>- </a:t>
            </a:r>
            <a:r>
              <a:rPr dirty="0" err="1"/>
              <a:t>view.py</a:t>
            </a:r>
            <a:r>
              <a:rPr dirty="0"/>
              <a:t> </a:t>
            </a:r>
          </a:p>
          <a:p>
            <a:pPr lvl="1">
              <a:defRPr sz="1400">
                <a:latin typeface="Biome Light"/>
                <a:ea typeface="Biome Light"/>
                <a:cs typeface="Biome Light"/>
                <a:sym typeface="Biome Light"/>
              </a:defRPr>
            </a:pPr>
            <a:r>
              <a:rPr dirty="0"/>
              <a:t>- Screenshot showing the admin panel for book registration. </a:t>
            </a:r>
          </a:p>
          <a:p>
            <a:pPr lvl="1">
              <a:defRPr sz="1400">
                <a:latin typeface="Biome Light"/>
                <a:ea typeface="Biome Light"/>
                <a:cs typeface="Biome Light"/>
                <a:sym typeface="Biome Light"/>
              </a:defRPr>
            </a:pPr>
            <a:r>
              <a:rPr dirty="0"/>
              <a:t>- Screenshot showing the webpage in a browser</a:t>
            </a:r>
          </a:p>
          <a:p>
            <a:pPr lvl="1">
              <a:lnSpc>
                <a:spcPct val="90000"/>
              </a:lnSpc>
              <a:spcBef>
                <a:spcPts val="500"/>
              </a:spcBef>
              <a:defRPr sz="1400">
                <a:latin typeface="Biome Light"/>
                <a:ea typeface="Biome Light"/>
                <a:cs typeface="Biome Light"/>
                <a:sym typeface="Biome Light"/>
              </a:defRPr>
            </a:pPr>
            <a:endParaRPr dirty="0"/>
          </a:p>
        </p:txBody>
      </p:sp>
      <p:sp>
        <p:nvSpPr>
          <p:cNvPr id="166" name="TextBox 2"/>
          <p:cNvSpPr txBox="1"/>
          <p:nvPr/>
        </p:nvSpPr>
        <p:spPr>
          <a:xfrm>
            <a:off x="-1" y="-1"/>
            <a:ext cx="12192001" cy="370841"/>
          </a:xfrm>
          <a:prstGeom prst="rect">
            <a:avLst/>
          </a:prstGeom>
          <a:solidFill>
            <a:srgbClr val="44546A"/>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latin typeface="Biome Light"/>
                <a:ea typeface="Biome Light"/>
                <a:cs typeface="Biome Light"/>
                <a:sym typeface="Biome Light"/>
              </a:defRPr>
            </a:lvl1pPr>
          </a:lstStyle>
          <a:p>
            <a:r>
              <a:t>Developing Web Application with Django</a:t>
            </a:r>
          </a:p>
        </p:txBody>
      </p:sp>
      <p:sp>
        <p:nvSpPr>
          <p:cNvPr id="167" name="TextBox 6"/>
          <p:cNvSpPr txBox="1"/>
          <p:nvPr/>
        </p:nvSpPr>
        <p:spPr>
          <a:xfrm>
            <a:off x="-2" y="6473685"/>
            <a:ext cx="12192001" cy="370841"/>
          </a:xfrm>
          <a:prstGeom prst="rect">
            <a:avLst/>
          </a:prstGeom>
          <a:solidFill>
            <a:schemeClr val="accent2"/>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latin typeface="Biome Light"/>
                <a:ea typeface="Biome Light"/>
                <a:cs typeface="Biome Light"/>
                <a:sym typeface="Biome Light"/>
              </a:defRPr>
            </a:lvl1pPr>
          </a:lstStyle>
          <a:p>
            <a:r>
              <a:t>Obligatory Exercise: Task 8</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4C80C-ECAE-B472-2BFB-F539F7BE5214}"/>
              </a:ext>
            </a:extLst>
          </p:cNvPr>
          <p:cNvSpPr>
            <a:spLocks noGrp="1"/>
          </p:cNvSpPr>
          <p:nvPr>
            <p:ph type="title"/>
          </p:nvPr>
        </p:nvSpPr>
        <p:spPr/>
        <p:txBody>
          <a:bodyPr>
            <a:normAutofit/>
          </a:bodyPr>
          <a:lstStyle/>
          <a:p>
            <a:r>
              <a:rPr lang="en-NO" sz="2400" dirty="0"/>
              <a:t>Answers Django project</a:t>
            </a:r>
          </a:p>
        </p:txBody>
      </p:sp>
      <p:sp>
        <p:nvSpPr>
          <p:cNvPr id="3" name="Text Placeholder 2">
            <a:extLst>
              <a:ext uri="{FF2B5EF4-FFF2-40B4-BE49-F238E27FC236}">
                <a16:creationId xmlns:a16="http://schemas.microsoft.com/office/drawing/2014/main" id="{8C980200-2A38-1116-77CD-80E133B9D0B8}"/>
              </a:ext>
            </a:extLst>
          </p:cNvPr>
          <p:cNvSpPr>
            <a:spLocks noGrp="1"/>
          </p:cNvSpPr>
          <p:nvPr>
            <p:ph type="body" idx="1"/>
          </p:nvPr>
        </p:nvSpPr>
        <p:spPr/>
        <p:txBody>
          <a:bodyPr/>
          <a:lstStyle/>
          <a:p>
            <a:r>
              <a:rPr lang="en-NO" dirty="0"/>
              <a:t>Models and views</a:t>
            </a:r>
          </a:p>
        </p:txBody>
      </p:sp>
      <p:pic>
        <p:nvPicPr>
          <p:cNvPr id="5" name="Picture 4" descr="A screenshot of a computer&#10;&#10;AI-generated content may be incorrect.">
            <a:extLst>
              <a:ext uri="{FF2B5EF4-FFF2-40B4-BE49-F238E27FC236}">
                <a16:creationId xmlns:a16="http://schemas.microsoft.com/office/drawing/2014/main" id="{467AA465-4E27-88C6-4A54-784855A34E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747963"/>
            <a:ext cx="4364608" cy="3429000"/>
          </a:xfrm>
          <a:prstGeom prst="rect">
            <a:avLst/>
          </a:prstGeom>
        </p:spPr>
      </p:pic>
      <p:pic>
        <p:nvPicPr>
          <p:cNvPr id="7" name="Picture 6" descr="A screen shot of a computer&#10;&#10;AI-generated content may be incorrect.">
            <a:extLst>
              <a:ext uri="{FF2B5EF4-FFF2-40B4-BE49-F238E27FC236}">
                <a16:creationId xmlns:a16="http://schemas.microsoft.com/office/drawing/2014/main" id="{95F2290B-79D2-620C-E8D2-2D4CA7CD33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6059" y="2737896"/>
            <a:ext cx="4364608" cy="3439067"/>
          </a:xfrm>
          <a:prstGeom prst="rect">
            <a:avLst/>
          </a:prstGeom>
        </p:spPr>
      </p:pic>
    </p:spTree>
    <p:extLst>
      <p:ext uri="{BB962C8B-B14F-4D97-AF65-F5344CB8AC3E}">
        <p14:creationId xmlns:p14="http://schemas.microsoft.com/office/powerpoint/2010/main" val="424082720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1C0A1-A32F-4E18-5FFC-B4F9CC9F7059}"/>
              </a:ext>
            </a:extLst>
          </p:cNvPr>
          <p:cNvSpPr>
            <a:spLocks noGrp="1"/>
          </p:cNvSpPr>
          <p:nvPr>
            <p:ph type="title"/>
          </p:nvPr>
        </p:nvSpPr>
        <p:spPr/>
        <p:txBody>
          <a:bodyPr>
            <a:normAutofit/>
          </a:bodyPr>
          <a:lstStyle/>
          <a:p>
            <a:r>
              <a:rPr lang="en-GB" sz="3200" dirty="0"/>
              <a:t>A</a:t>
            </a:r>
            <a:r>
              <a:rPr lang="en-NO" sz="3200" dirty="0"/>
              <a:t>dmin and homepage</a:t>
            </a:r>
          </a:p>
        </p:txBody>
      </p:sp>
      <p:pic>
        <p:nvPicPr>
          <p:cNvPr id="5" name="Picture 4" descr="A screenshot of a computer&#10;&#10;AI-generated content may be incorrect.">
            <a:extLst>
              <a:ext uri="{FF2B5EF4-FFF2-40B4-BE49-F238E27FC236}">
                <a16:creationId xmlns:a16="http://schemas.microsoft.com/office/drawing/2014/main" id="{69E31639-620A-ADB9-01DF-E8F776BC5AA7}"/>
              </a:ext>
            </a:extLst>
          </p:cNvPr>
          <p:cNvPicPr>
            <a:picLocks noChangeAspect="1"/>
          </p:cNvPicPr>
          <p:nvPr/>
        </p:nvPicPr>
        <p:blipFill>
          <a:blip r:embed="rId2">
            <a:extLst>
              <a:ext uri="{28A0092B-C50C-407E-A947-70E740481C1C}">
                <a14:useLocalDpi xmlns:a14="http://schemas.microsoft.com/office/drawing/2010/main" val="0"/>
              </a:ext>
            </a:extLst>
          </a:blip>
          <a:srcRect r="19034"/>
          <a:stretch/>
        </p:blipFill>
        <p:spPr>
          <a:xfrm>
            <a:off x="0" y="2169595"/>
            <a:ext cx="7370584" cy="4688405"/>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0336AB2E-92D8-C5B9-48EC-3D2FDD29B2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3171" y="2169595"/>
            <a:ext cx="5148829" cy="4688405"/>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89ED67DB-D9EC-99B5-C9B0-DEDD28E5C1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3171" y="1690688"/>
            <a:ext cx="5148829" cy="4688405"/>
          </a:xfrm>
          <a:prstGeom prst="rect">
            <a:avLst/>
          </a:prstGeom>
        </p:spPr>
      </p:pic>
    </p:spTree>
    <p:extLst>
      <p:ext uri="{BB962C8B-B14F-4D97-AF65-F5344CB8AC3E}">
        <p14:creationId xmlns:p14="http://schemas.microsoft.com/office/powerpoint/2010/main" val="222974654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extBox 11"/>
          <p:cNvSpPr txBox="1"/>
          <p:nvPr/>
        </p:nvSpPr>
        <p:spPr>
          <a:xfrm>
            <a:off x="701621" y="908855"/>
            <a:ext cx="9511915" cy="16388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742950" lvl="1" indent="-285750">
              <a:lnSpc>
                <a:spcPct val="90000"/>
              </a:lnSpc>
              <a:spcBef>
                <a:spcPts val="500"/>
              </a:spcBef>
              <a:buSzPct val="100000"/>
              <a:buFont typeface="Arial"/>
              <a:buChar char="•"/>
              <a:defRPr sz="1400">
                <a:latin typeface="Biome Light"/>
                <a:ea typeface="Biome Light"/>
                <a:cs typeface="Biome Light"/>
                <a:sym typeface="Biome Light"/>
              </a:defRPr>
            </a:pPr>
            <a:r>
              <a:t>Edit this PowerPoint file with your answers. Answers include </a:t>
            </a:r>
          </a:p>
          <a:p>
            <a:pPr marL="1200150" lvl="2" indent="-285750">
              <a:lnSpc>
                <a:spcPct val="90000"/>
              </a:lnSpc>
              <a:spcBef>
                <a:spcPts val="500"/>
              </a:spcBef>
              <a:buSzPct val="100000"/>
              <a:buFont typeface="Arial"/>
              <a:buChar char="•"/>
              <a:defRPr sz="1400">
                <a:latin typeface="Biome Light"/>
                <a:ea typeface="Biome Light"/>
                <a:cs typeface="Biome Light"/>
                <a:sym typeface="Biome Light"/>
              </a:defRPr>
            </a:pPr>
            <a:r>
              <a:t>HTML code</a:t>
            </a:r>
          </a:p>
          <a:p>
            <a:pPr marL="1200150" lvl="2" indent="-285750">
              <a:lnSpc>
                <a:spcPct val="90000"/>
              </a:lnSpc>
              <a:spcBef>
                <a:spcPts val="500"/>
              </a:spcBef>
              <a:buSzPct val="100000"/>
              <a:buFont typeface="Arial"/>
              <a:buChar char="•"/>
              <a:defRPr sz="1400">
                <a:latin typeface="Biome Light"/>
                <a:ea typeface="Biome Light"/>
                <a:cs typeface="Biome Light"/>
                <a:sym typeface="Biome Light"/>
              </a:defRPr>
            </a:pPr>
            <a:r>
              <a:t>Screenshot of Wireshark </a:t>
            </a:r>
            <a:r>
              <a:rPr>
                <a:latin typeface="+mj-lt"/>
                <a:ea typeface="+mj-ea"/>
                <a:cs typeface="+mj-cs"/>
                <a:sym typeface="Calibri"/>
              </a:rPr>
              <a:t> (You may add more slides if needed). </a:t>
            </a:r>
          </a:p>
          <a:p>
            <a:pPr marL="1200150" lvl="2" indent="-285750">
              <a:lnSpc>
                <a:spcPct val="90000"/>
              </a:lnSpc>
              <a:spcBef>
                <a:spcPts val="500"/>
              </a:spcBef>
              <a:buSzPct val="100000"/>
              <a:buFont typeface="Arial"/>
              <a:buChar char="•"/>
              <a:defRPr sz="1400">
                <a:latin typeface="Biome Light"/>
                <a:ea typeface="Biome Light"/>
                <a:cs typeface="Biome Light"/>
                <a:sym typeface="Biome Light"/>
              </a:defRPr>
            </a:pPr>
            <a:r>
              <a:t>XPath expressions, </a:t>
            </a:r>
          </a:p>
          <a:p>
            <a:pPr marL="1200150" lvl="2" indent="-285750">
              <a:lnSpc>
                <a:spcPct val="90000"/>
              </a:lnSpc>
              <a:spcBef>
                <a:spcPts val="500"/>
              </a:spcBef>
              <a:buSzPct val="100000"/>
              <a:buFont typeface="Arial"/>
              <a:buChar char="•"/>
              <a:defRPr sz="1400">
                <a:latin typeface="Biome Light"/>
                <a:ea typeface="Biome Light"/>
                <a:cs typeface="Biome Light"/>
                <a:sym typeface="Biome Light"/>
              </a:defRPr>
            </a:pPr>
            <a:r>
              <a:t>Output of XPath expressions, </a:t>
            </a:r>
          </a:p>
          <a:p>
            <a:pPr marL="1200150" lvl="2" indent="-285750">
              <a:lnSpc>
                <a:spcPct val="90000"/>
              </a:lnSpc>
              <a:spcBef>
                <a:spcPts val="500"/>
              </a:spcBef>
              <a:buSzPct val="100000"/>
              <a:buFont typeface="Arial"/>
              <a:buChar char="•"/>
              <a:defRPr sz="1400">
                <a:latin typeface="Biome Light"/>
                <a:ea typeface="Biome Light"/>
                <a:cs typeface="Biome Light"/>
                <a:sym typeface="Biome Light"/>
              </a:defRPr>
            </a:pPr>
            <a:r>
              <a:t>Screenshot of the Django web project. (You may add more slides if needed).</a:t>
            </a:r>
          </a:p>
        </p:txBody>
      </p:sp>
      <p:sp>
        <p:nvSpPr>
          <p:cNvPr id="170" name="TextBox 2"/>
          <p:cNvSpPr txBox="1"/>
          <p:nvPr/>
        </p:nvSpPr>
        <p:spPr>
          <a:xfrm>
            <a:off x="-1" y="-1"/>
            <a:ext cx="12192001" cy="370841"/>
          </a:xfrm>
          <a:prstGeom prst="rect">
            <a:avLst/>
          </a:prstGeom>
          <a:solidFill>
            <a:srgbClr val="44546A"/>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latin typeface="Biome Light"/>
                <a:ea typeface="Biome Light"/>
                <a:cs typeface="Biome Light"/>
                <a:sym typeface="Biome Light"/>
              </a:defRPr>
            </a:lvl1pPr>
          </a:lstStyle>
          <a:p>
            <a:r>
              <a:t>How to hand over the assignment?</a:t>
            </a:r>
          </a:p>
        </p:txBody>
      </p:sp>
      <p:sp>
        <p:nvSpPr>
          <p:cNvPr id="171" name="TextBox 6"/>
          <p:cNvSpPr txBox="1"/>
          <p:nvPr/>
        </p:nvSpPr>
        <p:spPr>
          <a:xfrm>
            <a:off x="-2" y="6473685"/>
            <a:ext cx="12192001" cy="370841"/>
          </a:xfrm>
          <a:prstGeom prst="rect">
            <a:avLst/>
          </a:prstGeom>
          <a:solidFill>
            <a:schemeClr val="accent2"/>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a:solidFill>
                  <a:srgbClr val="FFFFFF"/>
                </a:solidFill>
                <a:latin typeface="Biome Light"/>
                <a:ea typeface="Biome Light"/>
                <a:cs typeface="Biome Light"/>
                <a:sym typeface="Biome Light"/>
              </a:defRPr>
            </a:lvl1pPr>
          </a:lstStyle>
          <a:p>
            <a:r>
              <a:t>Obligatory Exercise</a:t>
            </a:r>
          </a:p>
        </p:txBody>
      </p:sp>
      <p:sp>
        <p:nvSpPr>
          <p:cNvPr id="172" name="TextBox 4"/>
          <p:cNvSpPr txBox="1"/>
          <p:nvPr/>
        </p:nvSpPr>
        <p:spPr>
          <a:xfrm>
            <a:off x="701621" y="3939135"/>
            <a:ext cx="9511915" cy="695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742950" lvl="1" indent="-285750">
              <a:lnSpc>
                <a:spcPct val="90000"/>
              </a:lnSpc>
              <a:spcBef>
                <a:spcPts val="500"/>
              </a:spcBef>
              <a:buSzPct val="100000"/>
              <a:buFont typeface="Arial"/>
              <a:buChar char="•"/>
              <a:defRPr sz="1400">
                <a:latin typeface="Biome Light"/>
                <a:ea typeface="Biome Light"/>
                <a:cs typeface="Biome Light"/>
                <a:sym typeface="Biome Light"/>
              </a:defRPr>
            </a:pPr>
            <a:r>
              <a:t>Note:: Do not delete the projects from your computer until your assignment is approved. Seminar leader will contact you if they need more information about your projects. You may have to provide more information/screenshot before the assignment is approved. </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86</TotalTime>
  <Words>1185</Words>
  <Application>Microsoft Macintosh PowerPoint</Application>
  <PresentationFormat>Widescreen</PresentationFormat>
  <Paragraphs>175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Biome Light</vt:lpstr>
      <vt:lpstr>Calibri</vt:lpstr>
      <vt:lpstr>Calibri Light</vt:lpstr>
      <vt:lpstr>Office Theme</vt:lpstr>
      <vt:lpstr>Obligatory Assignment 01</vt:lpstr>
      <vt:lpstr>Scalable Vector Graphics (SVG)</vt:lpstr>
      <vt:lpstr>PowerPoint Presentation</vt:lpstr>
      <vt:lpstr>PowerPoint Presentation</vt:lpstr>
      <vt:lpstr>Answers for task 3</vt:lpstr>
      <vt:lpstr>PowerPoint Presentation</vt:lpstr>
      <vt:lpstr>PowerPoint Presentation</vt:lpstr>
      <vt:lpstr>PowerPoint Presentation</vt:lpstr>
      <vt:lpstr>PowerPoint Presentation</vt:lpstr>
      <vt:lpstr>PowerPoint Presentation</vt:lpstr>
      <vt:lpstr>Answers Django project</vt:lpstr>
      <vt:lpstr>Admin and homepage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Obligatory Assignment  01</dc:title>
  <cp:lastModifiedBy>Aslak Prestvik Vandvik</cp:lastModifiedBy>
  <cp:revision>8</cp:revision>
  <dcterms:modified xsi:type="dcterms:W3CDTF">2025-02-04T14:38:58Z</dcterms:modified>
</cp:coreProperties>
</file>